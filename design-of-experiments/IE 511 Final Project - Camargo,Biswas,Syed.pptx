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67" r:id="rId2"/>
    <p:sldId id="257" r:id="rId3"/>
    <p:sldId id="258" r:id="rId4"/>
    <p:sldId id="271" r:id="rId5"/>
    <p:sldId id="260" r:id="rId6"/>
    <p:sldId id="272" r:id="rId7"/>
    <p:sldId id="273" r:id="rId8"/>
    <p:sldId id="285" r:id="rId9"/>
    <p:sldId id="284" r:id="rId10"/>
    <p:sldId id="276" r:id="rId11"/>
    <p:sldId id="286" r:id="rId12"/>
    <p:sldId id="288" r:id="rId13"/>
  </p:sldIdLst>
  <p:sldSz cx="12192000" cy="6858000"/>
  <p:notesSz cx="6858000" cy="9144000"/>
  <p:defaultTextStyle>
    <a:defPPr>
      <a:defRPr lang="b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E2E2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50A450-333E-4FE6-9D78-6DDE296491F6}" v="4" dt="2022-12-09T03:37:15.010"/>
    <p1510:client id="{BDF7BDDB-9D01-F74D-8A44-07AE16DAED9A}" v="2282" dt="2022-12-08T17:52:39.971"/>
    <p1510:client id="{DCB6272B-E6D1-DF42-6E74-C9E745E91B9B}" v="6" dt="2022-12-09T03:34:31.6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5"/>
    <p:restoredTop sz="94694"/>
  </p:normalViewPr>
  <p:slideViewPr>
    <p:cSldViewPr snapToGrid="0">
      <p:cViewPr varScale="1">
        <p:scale>
          <a:sx n="78" d="100"/>
          <a:sy n="78" d="100"/>
        </p:scale>
        <p:origin x="111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1C9E6A-A445-4310-B557-D42B6FEF750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2F63905-80D5-4CD7-A3A7-99E2CE3052C3}">
      <dgm:prSet custT="1"/>
      <dgm:spPr/>
      <dgm:t>
        <a:bodyPr/>
        <a:lstStyle/>
        <a:p>
          <a:pPr algn="just"/>
          <a:r>
            <a:rPr lang="en-US" sz="1800"/>
            <a:t>Posters should be made in such a way that attracts people to read it and the layout should be such that people can read it fast, so they get they do not spend too much time to read the message included. </a:t>
          </a:r>
        </a:p>
      </dgm:t>
    </dgm:pt>
    <dgm:pt modelId="{8BE5A9C3-44FE-42B5-9E39-689AEE5A1812}" type="parTrans" cxnId="{6C3F8E5F-2A27-4585-9F7B-B296B05CDC43}">
      <dgm:prSet/>
      <dgm:spPr/>
      <dgm:t>
        <a:bodyPr/>
        <a:lstStyle/>
        <a:p>
          <a:endParaRPr lang="en-US"/>
        </a:p>
      </dgm:t>
    </dgm:pt>
    <dgm:pt modelId="{A2BC6FEC-47B2-4E76-B4F7-7C7223C40523}" type="sibTrans" cxnId="{6C3F8E5F-2A27-4585-9F7B-B296B05CDC43}">
      <dgm:prSet/>
      <dgm:spPr/>
      <dgm:t>
        <a:bodyPr/>
        <a:lstStyle/>
        <a:p>
          <a:endParaRPr lang="en-US"/>
        </a:p>
      </dgm:t>
    </dgm:pt>
    <dgm:pt modelId="{AE30AA15-F6FA-4E21-9535-1ECAFBE2AFE8}">
      <dgm:prSet custT="1"/>
      <dgm:spPr/>
      <dgm:t>
        <a:bodyPr/>
        <a:lstStyle/>
        <a:p>
          <a:r>
            <a:rPr lang="en-US" sz="1800" dirty="0"/>
            <a:t>One of the goals of the experiment is to analyze the effects of changes in a poster layout on the average reading time of the chosen test subjects, </a:t>
          </a:r>
          <a:r>
            <a:rPr lang="en-US" sz="1800" b="1" dirty="0"/>
            <a:t>so they can read the posters faster.</a:t>
          </a:r>
        </a:p>
      </dgm:t>
    </dgm:pt>
    <dgm:pt modelId="{BBA2BA32-0257-4C7B-AA99-4EC7900C0E91}" type="parTrans" cxnId="{DC828E35-0DF5-4436-99F8-6B00FFB39F46}">
      <dgm:prSet/>
      <dgm:spPr/>
      <dgm:t>
        <a:bodyPr/>
        <a:lstStyle/>
        <a:p>
          <a:endParaRPr lang="en-US"/>
        </a:p>
      </dgm:t>
    </dgm:pt>
    <dgm:pt modelId="{372DC3C3-FF00-4BBB-A5AF-1809ECDCD303}" type="sibTrans" cxnId="{DC828E35-0DF5-4436-99F8-6B00FFB39F46}">
      <dgm:prSet/>
      <dgm:spPr/>
      <dgm:t>
        <a:bodyPr/>
        <a:lstStyle/>
        <a:p>
          <a:endParaRPr lang="en-US"/>
        </a:p>
      </dgm:t>
    </dgm:pt>
    <dgm:pt modelId="{A908B522-9CCD-4590-9568-7E0925DE8DBB}">
      <dgm:prSet custT="1"/>
      <dgm:spPr/>
      <dgm:t>
        <a:bodyPr/>
        <a:lstStyle/>
        <a:p>
          <a:r>
            <a:rPr lang="en-US" sz="1800" dirty="0"/>
            <a:t>Another goal of this project is to find the treatment combination which would </a:t>
          </a:r>
          <a:r>
            <a:rPr lang="en-US" sz="1800" b="1" dirty="0"/>
            <a:t>minimize the standard deviation </a:t>
          </a:r>
          <a:r>
            <a:rPr lang="en-US" sz="1800" dirty="0"/>
            <a:t>of the reading times of the posters.</a:t>
          </a:r>
        </a:p>
      </dgm:t>
    </dgm:pt>
    <dgm:pt modelId="{AFE3F19C-5930-4E4B-998E-0B09C3391CE1}" type="parTrans" cxnId="{DCDA8AC0-DAC5-4D82-8824-06836276E926}">
      <dgm:prSet/>
      <dgm:spPr/>
      <dgm:t>
        <a:bodyPr/>
        <a:lstStyle/>
        <a:p>
          <a:endParaRPr lang="en-US"/>
        </a:p>
      </dgm:t>
    </dgm:pt>
    <dgm:pt modelId="{E7610F49-EE90-4DDB-B415-F8B231FC7638}" type="sibTrans" cxnId="{DCDA8AC0-DAC5-4D82-8824-06836276E926}">
      <dgm:prSet/>
      <dgm:spPr/>
      <dgm:t>
        <a:bodyPr/>
        <a:lstStyle/>
        <a:p>
          <a:endParaRPr lang="en-US"/>
        </a:p>
      </dgm:t>
    </dgm:pt>
    <dgm:pt modelId="{42045998-8B83-4A5F-A285-B6BC26B594E6}">
      <dgm:prSet custT="1"/>
      <dgm:spPr/>
      <dgm:t>
        <a:bodyPr/>
        <a:lstStyle/>
        <a:p>
          <a:pPr algn="just"/>
          <a:r>
            <a:rPr lang="en-US" sz="1800" dirty="0"/>
            <a:t>The experimental units of the project are the posters that will be prepared by the experimenters in a MS Word document and then printed on a letter sized page and the above-mentioned responses will be measured, keeping constant some other factors which will not be analyzed as part of the DOE.</a:t>
          </a:r>
        </a:p>
      </dgm:t>
    </dgm:pt>
    <dgm:pt modelId="{5531ED55-31E3-4A4F-A348-873BE01470D5}" type="parTrans" cxnId="{C44D3DD6-4597-4CEC-BB03-67608441532B}">
      <dgm:prSet/>
      <dgm:spPr/>
      <dgm:t>
        <a:bodyPr/>
        <a:lstStyle/>
        <a:p>
          <a:endParaRPr lang="en-US"/>
        </a:p>
      </dgm:t>
    </dgm:pt>
    <dgm:pt modelId="{BAC21D5A-1E2F-47A2-8309-5EA6F66C7014}" type="sibTrans" cxnId="{C44D3DD6-4597-4CEC-BB03-67608441532B}">
      <dgm:prSet/>
      <dgm:spPr/>
      <dgm:t>
        <a:bodyPr/>
        <a:lstStyle/>
        <a:p>
          <a:endParaRPr lang="en-US"/>
        </a:p>
      </dgm:t>
    </dgm:pt>
    <dgm:pt modelId="{71C5B6A9-6A29-475C-9F5A-A5238FA9FB23}" type="pres">
      <dgm:prSet presAssocID="{681C9E6A-A445-4310-B557-D42B6FEF750F}" presName="vert0" presStyleCnt="0">
        <dgm:presLayoutVars>
          <dgm:dir/>
          <dgm:animOne val="branch"/>
          <dgm:animLvl val="lvl"/>
        </dgm:presLayoutVars>
      </dgm:prSet>
      <dgm:spPr/>
    </dgm:pt>
    <dgm:pt modelId="{4A57E976-C3EC-40B0-857F-7A717F0EC21B}" type="pres">
      <dgm:prSet presAssocID="{32F63905-80D5-4CD7-A3A7-99E2CE3052C3}" presName="thickLine" presStyleLbl="alignNode1" presStyleIdx="0" presStyleCnt="4"/>
      <dgm:spPr/>
    </dgm:pt>
    <dgm:pt modelId="{D73DFBA5-EC21-4BE3-9BBC-50B89B03965B}" type="pres">
      <dgm:prSet presAssocID="{32F63905-80D5-4CD7-A3A7-99E2CE3052C3}" presName="horz1" presStyleCnt="0"/>
      <dgm:spPr/>
    </dgm:pt>
    <dgm:pt modelId="{C041E397-0D25-4225-ACEA-CBA031BDCAAE}" type="pres">
      <dgm:prSet presAssocID="{32F63905-80D5-4CD7-A3A7-99E2CE3052C3}" presName="tx1" presStyleLbl="revTx" presStyleIdx="0" presStyleCnt="4" custScaleY="164652"/>
      <dgm:spPr/>
    </dgm:pt>
    <dgm:pt modelId="{DEA80462-4290-4F25-8ADF-2C3D0FB9DA80}" type="pres">
      <dgm:prSet presAssocID="{32F63905-80D5-4CD7-A3A7-99E2CE3052C3}" presName="vert1" presStyleCnt="0"/>
      <dgm:spPr/>
    </dgm:pt>
    <dgm:pt modelId="{6FA22D25-0AFE-45A4-A8E8-0E1C6143C133}" type="pres">
      <dgm:prSet presAssocID="{AE30AA15-F6FA-4E21-9535-1ECAFBE2AFE8}" presName="thickLine" presStyleLbl="alignNode1" presStyleIdx="1" presStyleCnt="4"/>
      <dgm:spPr/>
    </dgm:pt>
    <dgm:pt modelId="{3F3C0042-4B62-45AC-9F4A-F3760C914940}" type="pres">
      <dgm:prSet presAssocID="{AE30AA15-F6FA-4E21-9535-1ECAFBE2AFE8}" presName="horz1" presStyleCnt="0"/>
      <dgm:spPr/>
    </dgm:pt>
    <dgm:pt modelId="{35A55863-19AF-4E45-BAEC-8834C00BD9F6}" type="pres">
      <dgm:prSet presAssocID="{AE30AA15-F6FA-4E21-9535-1ECAFBE2AFE8}" presName="tx1" presStyleLbl="revTx" presStyleIdx="1" presStyleCnt="4" custScaleY="164652"/>
      <dgm:spPr/>
    </dgm:pt>
    <dgm:pt modelId="{BE05590F-D586-4921-8EF4-301ED675BADA}" type="pres">
      <dgm:prSet presAssocID="{AE30AA15-F6FA-4E21-9535-1ECAFBE2AFE8}" presName="vert1" presStyleCnt="0"/>
      <dgm:spPr/>
    </dgm:pt>
    <dgm:pt modelId="{476A5648-2455-4EAA-8C72-DEA9633A006A}" type="pres">
      <dgm:prSet presAssocID="{A908B522-9CCD-4590-9568-7E0925DE8DBB}" presName="thickLine" presStyleLbl="alignNode1" presStyleIdx="2" presStyleCnt="4"/>
      <dgm:spPr/>
    </dgm:pt>
    <dgm:pt modelId="{0BB2933A-7C8E-46DC-AACD-C84C9877E3B0}" type="pres">
      <dgm:prSet presAssocID="{A908B522-9CCD-4590-9568-7E0925DE8DBB}" presName="horz1" presStyleCnt="0"/>
      <dgm:spPr/>
    </dgm:pt>
    <dgm:pt modelId="{9151AE58-E5FA-414D-8141-DAAED77F4B48}" type="pres">
      <dgm:prSet presAssocID="{A908B522-9CCD-4590-9568-7E0925DE8DBB}" presName="tx1" presStyleLbl="revTx" presStyleIdx="2" presStyleCnt="4" custScaleY="164652"/>
      <dgm:spPr/>
    </dgm:pt>
    <dgm:pt modelId="{32FDA7D6-96D0-460C-9164-B4D07C6A1368}" type="pres">
      <dgm:prSet presAssocID="{A908B522-9CCD-4590-9568-7E0925DE8DBB}" presName="vert1" presStyleCnt="0"/>
      <dgm:spPr/>
    </dgm:pt>
    <dgm:pt modelId="{6B3F7F6F-35F8-45E9-A76C-FFA51CC3830F}" type="pres">
      <dgm:prSet presAssocID="{42045998-8B83-4A5F-A285-B6BC26B594E6}" presName="thickLine" presStyleLbl="alignNode1" presStyleIdx="3" presStyleCnt="4"/>
      <dgm:spPr/>
    </dgm:pt>
    <dgm:pt modelId="{A15C129D-1B30-471F-84EB-DB57150145CE}" type="pres">
      <dgm:prSet presAssocID="{42045998-8B83-4A5F-A285-B6BC26B594E6}" presName="horz1" presStyleCnt="0"/>
      <dgm:spPr/>
    </dgm:pt>
    <dgm:pt modelId="{8328665B-C61E-464F-BE22-1D1C084DD4E8}" type="pres">
      <dgm:prSet presAssocID="{42045998-8B83-4A5F-A285-B6BC26B594E6}" presName="tx1" presStyleLbl="revTx" presStyleIdx="3" presStyleCnt="4" custScaleY="164652"/>
      <dgm:spPr/>
    </dgm:pt>
    <dgm:pt modelId="{1E5596AD-CF79-4260-96DA-E61E17FB5C45}" type="pres">
      <dgm:prSet presAssocID="{42045998-8B83-4A5F-A285-B6BC26B594E6}" presName="vert1" presStyleCnt="0"/>
      <dgm:spPr/>
    </dgm:pt>
  </dgm:ptLst>
  <dgm:cxnLst>
    <dgm:cxn modelId="{F8DA1702-3017-420C-8F8F-EB96D9F66C00}" type="presOf" srcId="{42045998-8B83-4A5F-A285-B6BC26B594E6}" destId="{8328665B-C61E-464F-BE22-1D1C084DD4E8}" srcOrd="0" destOrd="0" presId="urn:microsoft.com/office/officeart/2008/layout/LinedList"/>
    <dgm:cxn modelId="{B6C07515-2F11-483A-85DB-B0A92F6FF089}" type="presOf" srcId="{A908B522-9CCD-4590-9568-7E0925DE8DBB}" destId="{9151AE58-E5FA-414D-8141-DAAED77F4B48}" srcOrd="0" destOrd="0" presId="urn:microsoft.com/office/officeart/2008/layout/LinedList"/>
    <dgm:cxn modelId="{6C7BEB29-28D4-4469-A6E4-F90E2759F444}" type="presOf" srcId="{681C9E6A-A445-4310-B557-D42B6FEF750F}" destId="{71C5B6A9-6A29-475C-9F5A-A5238FA9FB23}" srcOrd="0" destOrd="0" presId="urn:microsoft.com/office/officeart/2008/layout/LinedList"/>
    <dgm:cxn modelId="{DC828E35-0DF5-4436-99F8-6B00FFB39F46}" srcId="{681C9E6A-A445-4310-B557-D42B6FEF750F}" destId="{AE30AA15-F6FA-4E21-9535-1ECAFBE2AFE8}" srcOrd="1" destOrd="0" parTransId="{BBA2BA32-0257-4C7B-AA99-4EC7900C0E91}" sibTransId="{372DC3C3-FF00-4BBB-A5AF-1809ECDCD303}"/>
    <dgm:cxn modelId="{6C3F8E5F-2A27-4585-9F7B-B296B05CDC43}" srcId="{681C9E6A-A445-4310-B557-D42B6FEF750F}" destId="{32F63905-80D5-4CD7-A3A7-99E2CE3052C3}" srcOrd="0" destOrd="0" parTransId="{8BE5A9C3-44FE-42B5-9E39-689AEE5A1812}" sibTransId="{A2BC6FEC-47B2-4E76-B4F7-7C7223C40523}"/>
    <dgm:cxn modelId="{6503B8A0-1673-4ADB-8A44-38FC107B42B4}" type="presOf" srcId="{32F63905-80D5-4CD7-A3A7-99E2CE3052C3}" destId="{C041E397-0D25-4225-ACEA-CBA031BDCAAE}" srcOrd="0" destOrd="0" presId="urn:microsoft.com/office/officeart/2008/layout/LinedList"/>
    <dgm:cxn modelId="{DCDA8AC0-DAC5-4D82-8824-06836276E926}" srcId="{681C9E6A-A445-4310-B557-D42B6FEF750F}" destId="{A908B522-9CCD-4590-9568-7E0925DE8DBB}" srcOrd="2" destOrd="0" parTransId="{AFE3F19C-5930-4E4B-998E-0B09C3391CE1}" sibTransId="{E7610F49-EE90-4DDB-B415-F8B231FC7638}"/>
    <dgm:cxn modelId="{C44D3DD6-4597-4CEC-BB03-67608441532B}" srcId="{681C9E6A-A445-4310-B557-D42B6FEF750F}" destId="{42045998-8B83-4A5F-A285-B6BC26B594E6}" srcOrd="3" destOrd="0" parTransId="{5531ED55-31E3-4A4F-A348-873BE01470D5}" sibTransId="{BAC21D5A-1E2F-47A2-8309-5EA6F66C7014}"/>
    <dgm:cxn modelId="{CCF953EB-4ED9-4A30-B7A5-77C24F96F1DA}" type="presOf" srcId="{AE30AA15-F6FA-4E21-9535-1ECAFBE2AFE8}" destId="{35A55863-19AF-4E45-BAEC-8834C00BD9F6}" srcOrd="0" destOrd="0" presId="urn:microsoft.com/office/officeart/2008/layout/LinedList"/>
    <dgm:cxn modelId="{DDC25043-CF29-4D10-AD40-18C25E68F42C}" type="presParOf" srcId="{71C5B6A9-6A29-475C-9F5A-A5238FA9FB23}" destId="{4A57E976-C3EC-40B0-857F-7A717F0EC21B}" srcOrd="0" destOrd="0" presId="urn:microsoft.com/office/officeart/2008/layout/LinedList"/>
    <dgm:cxn modelId="{15AE5360-3BC0-40FF-AF75-B28892EC2282}" type="presParOf" srcId="{71C5B6A9-6A29-475C-9F5A-A5238FA9FB23}" destId="{D73DFBA5-EC21-4BE3-9BBC-50B89B03965B}" srcOrd="1" destOrd="0" presId="urn:microsoft.com/office/officeart/2008/layout/LinedList"/>
    <dgm:cxn modelId="{1ABB68CB-67C1-49A0-BF07-646046CBC57A}" type="presParOf" srcId="{D73DFBA5-EC21-4BE3-9BBC-50B89B03965B}" destId="{C041E397-0D25-4225-ACEA-CBA031BDCAAE}" srcOrd="0" destOrd="0" presId="urn:microsoft.com/office/officeart/2008/layout/LinedList"/>
    <dgm:cxn modelId="{1848431D-ACCE-40AB-8C03-32A6BD690318}" type="presParOf" srcId="{D73DFBA5-EC21-4BE3-9BBC-50B89B03965B}" destId="{DEA80462-4290-4F25-8ADF-2C3D0FB9DA80}" srcOrd="1" destOrd="0" presId="urn:microsoft.com/office/officeart/2008/layout/LinedList"/>
    <dgm:cxn modelId="{EE1B36FD-325D-4D3F-ABB1-4CC2A1C3C6CC}" type="presParOf" srcId="{71C5B6A9-6A29-475C-9F5A-A5238FA9FB23}" destId="{6FA22D25-0AFE-45A4-A8E8-0E1C6143C133}" srcOrd="2" destOrd="0" presId="urn:microsoft.com/office/officeart/2008/layout/LinedList"/>
    <dgm:cxn modelId="{187287FD-5FE3-4FB5-BAE7-5D78CF404967}" type="presParOf" srcId="{71C5B6A9-6A29-475C-9F5A-A5238FA9FB23}" destId="{3F3C0042-4B62-45AC-9F4A-F3760C914940}" srcOrd="3" destOrd="0" presId="urn:microsoft.com/office/officeart/2008/layout/LinedList"/>
    <dgm:cxn modelId="{E7CA92D3-0446-44A3-BFF1-98392B3BB6E9}" type="presParOf" srcId="{3F3C0042-4B62-45AC-9F4A-F3760C914940}" destId="{35A55863-19AF-4E45-BAEC-8834C00BD9F6}" srcOrd="0" destOrd="0" presId="urn:microsoft.com/office/officeart/2008/layout/LinedList"/>
    <dgm:cxn modelId="{40C6EAF2-20DC-4FB1-A8D8-5B732D5339C9}" type="presParOf" srcId="{3F3C0042-4B62-45AC-9F4A-F3760C914940}" destId="{BE05590F-D586-4921-8EF4-301ED675BADA}" srcOrd="1" destOrd="0" presId="urn:microsoft.com/office/officeart/2008/layout/LinedList"/>
    <dgm:cxn modelId="{00FAE18C-CAEB-4104-A77E-F22EB4ED1805}" type="presParOf" srcId="{71C5B6A9-6A29-475C-9F5A-A5238FA9FB23}" destId="{476A5648-2455-4EAA-8C72-DEA9633A006A}" srcOrd="4" destOrd="0" presId="urn:microsoft.com/office/officeart/2008/layout/LinedList"/>
    <dgm:cxn modelId="{38E4B077-9C71-4966-BDE0-40998F9284DA}" type="presParOf" srcId="{71C5B6A9-6A29-475C-9F5A-A5238FA9FB23}" destId="{0BB2933A-7C8E-46DC-AACD-C84C9877E3B0}" srcOrd="5" destOrd="0" presId="urn:microsoft.com/office/officeart/2008/layout/LinedList"/>
    <dgm:cxn modelId="{D0B312C4-8E4E-43E9-9467-22215BE09313}" type="presParOf" srcId="{0BB2933A-7C8E-46DC-AACD-C84C9877E3B0}" destId="{9151AE58-E5FA-414D-8141-DAAED77F4B48}" srcOrd="0" destOrd="0" presId="urn:microsoft.com/office/officeart/2008/layout/LinedList"/>
    <dgm:cxn modelId="{BCEA7FF5-D524-4B79-BFD0-A79EA54C0815}" type="presParOf" srcId="{0BB2933A-7C8E-46DC-AACD-C84C9877E3B0}" destId="{32FDA7D6-96D0-460C-9164-B4D07C6A1368}" srcOrd="1" destOrd="0" presId="urn:microsoft.com/office/officeart/2008/layout/LinedList"/>
    <dgm:cxn modelId="{C89188BC-C0E5-4F2C-ACD6-B4D48B9E3A86}" type="presParOf" srcId="{71C5B6A9-6A29-475C-9F5A-A5238FA9FB23}" destId="{6B3F7F6F-35F8-45E9-A76C-FFA51CC3830F}" srcOrd="6" destOrd="0" presId="urn:microsoft.com/office/officeart/2008/layout/LinedList"/>
    <dgm:cxn modelId="{4DBFB8C1-B825-44F6-8612-3F777EBE6317}" type="presParOf" srcId="{71C5B6A9-6A29-475C-9F5A-A5238FA9FB23}" destId="{A15C129D-1B30-471F-84EB-DB57150145CE}" srcOrd="7" destOrd="0" presId="urn:microsoft.com/office/officeart/2008/layout/LinedList"/>
    <dgm:cxn modelId="{B3941FD0-352E-4ABC-8FA2-33DAC69D816E}" type="presParOf" srcId="{A15C129D-1B30-471F-84EB-DB57150145CE}" destId="{8328665B-C61E-464F-BE22-1D1C084DD4E8}" srcOrd="0" destOrd="0" presId="urn:microsoft.com/office/officeart/2008/layout/LinedList"/>
    <dgm:cxn modelId="{E1A497A2-BB33-4017-B9BD-38EE4B44DB7C}" type="presParOf" srcId="{A15C129D-1B30-471F-84EB-DB57150145CE}" destId="{1E5596AD-CF79-4260-96DA-E61E17FB5C4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57E976-C3EC-40B0-857F-7A717F0EC21B}">
      <dsp:nvSpPr>
        <dsp:cNvPr id="0" name=""/>
        <dsp:cNvSpPr/>
      </dsp:nvSpPr>
      <dsp:spPr>
        <a:xfrm>
          <a:off x="0" y="2480"/>
          <a:ext cx="1044321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41E397-0D25-4225-ACEA-CBA031BDCAAE}">
      <dsp:nvSpPr>
        <dsp:cNvPr id="0" name=""/>
        <dsp:cNvSpPr/>
      </dsp:nvSpPr>
      <dsp:spPr>
        <a:xfrm>
          <a:off x="0" y="2480"/>
          <a:ext cx="10433014" cy="839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just" defTabSz="800100">
            <a:lnSpc>
              <a:spcPct val="90000"/>
            </a:lnSpc>
            <a:spcBef>
              <a:spcPct val="0"/>
            </a:spcBef>
            <a:spcAft>
              <a:spcPct val="35000"/>
            </a:spcAft>
            <a:buNone/>
          </a:pPr>
          <a:r>
            <a:rPr lang="en-US" sz="1800" kern="1200"/>
            <a:t>Posters should be made in such a way that attracts people to read it and the layout should be such that people can read it fast, so they get they do not spend too much time to read the message included. </a:t>
          </a:r>
        </a:p>
      </dsp:txBody>
      <dsp:txXfrm>
        <a:off x="0" y="2480"/>
        <a:ext cx="10433014" cy="839279"/>
      </dsp:txXfrm>
    </dsp:sp>
    <dsp:sp modelId="{6FA22D25-0AFE-45A4-A8E8-0E1C6143C133}">
      <dsp:nvSpPr>
        <dsp:cNvPr id="0" name=""/>
        <dsp:cNvSpPr/>
      </dsp:nvSpPr>
      <dsp:spPr>
        <a:xfrm>
          <a:off x="0" y="841760"/>
          <a:ext cx="1044321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A55863-19AF-4E45-BAEC-8834C00BD9F6}">
      <dsp:nvSpPr>
        <dsp:cNvPr id="0" name=""/>
        <dsp:cNvSpPr/>
      </dsp:nvSpPr>
      <dsp:spPr>
        <a:xfrm>
          <a:off x="0" y="841760"/>
          <a:ext cx="10433014" cy="839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One of the goals of the experiment is to analyze the effects of changes in a poster layout on the average reading time of the chosen test subjects, </a:t>
          </a:r>
          <a:r>
            <a:rPr lang="en-US" sz="1800" b="1" kern="1200" dirty="0"/>
            <a:t>so they can read the posters faster.</a:t>
          </a:r>
        </a:p>
      </dsp:txBody>
      <dsp:txXfrm>
        <a:off x="0" y="841760"/>
        <a:ext cx="10433014" cy="839279"/>
      </dsp:txXfrm>
    </dsp:sp>
    <dsp:sp modelId="{476A5648-2455-4EAA-8C72-DEA9633A006A}">
      <dsp:nvSpPr>
        <dsp:cNvPr id="0" name=""/>
        <dsp:cNvSpPr/>
      </dsp:nvSpPr>
      <dsp:spPr>
        <a:xfrm>
          <a:off x="0" y="1681040"/>
          <a:ext cx="1044321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51AE58-E5FA-414D-8141-DAAED77F4B48}">
      <dsp:nvSpPr>
        <dsp:cNvPr id="0" name=""/>
        <dsp:cNvSpPr/>
      </dsp:nvSpPr>
      <dsp:spPr>
        <a:xfrm>
          <a:off x="0" y="1681040"/>
          <a:ext cx="10433014" cy="839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Another goal of this project is to find the treatment combination which would </a:t>
          </a:r>
          <a:r>
            <a:rPr lang="en-US" sz="1800" b="1" kern="1200" dirty="0"/>
            <a:t>minimize the standard deviation </a:t>
          </a:r>
          <a:r>
            <a:rPr lang="en-US" sz="1800" kern="1200" dirty="0"/>
            <a:t>of the reading times of the posters.</a:t>
          </a:r>
        </a:p>
      </dsp:txBody>
      <dsp:txXfrm>
        <a:off x="0" y="1681040"/>
        <a:ext cx="10433014" cy="839279"/>
      </dsp:txXfrm>
    </dsp:sp>
    <dsp:sp modelId="{6B3F7F6F-35F8-45E9-A76C-FFA51CC3830F}">
      <dsp:nvSpPr>
        <dsp:cNvPr id="0" name=""/>
        <dsp:cNvSpPr/>
      </dsp:nvSpPr>
      <dsp:spPr>
        <a:xfrm>
          <a:off x="0" y="2520319"/>
          <a:ext cx="1044321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28665B-C61E-464F-BE22-1D1C084DD4E8}">
      <dsp:nvSpPr>
        <dsp:cNvPr id="0" name=""/>
        <dsp:cNvSpPr/>
      </dsp:nvSpPr>
      <dsp:spPr>
        <a:xfrm>
          <a:off x="0" y="2520319"/>
          <a:ext cx="10433014" cy="839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just" defTabSz="800100">
            <a:lnSpc>
              <a:spcPct val="90000"/>
            </a:lnSpc>
            <a:spcBef>
              <a:spcPct val="0"/>
            </a:spcBef>
            <a:spcAft>
              <a:spcPct val="35000"/>
            </a:spcAft>
            <a:buNone/>
          </a:pPr>
          <a:r>
            <a:rPr lang="en-US" sz="1800" kern="1200" dirty="0"/>
            <a:t>The experimental units of the project are the posters that will be prepared by the experimenters in a MS Word document and then printed on a letter sized page and the above-mentioned responses will be measured, keeping constant some other factors which will not be analyzed as part of the DOE.</a:t>
          </a:r>
        </a:p>
      </dsp:txBody>
      <dsp:txXfrm>
        <a:off x="0" y="2520319"/>
        <a:ext cx="10433014" cy="83927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F1C0F-0FE7-44D4-9F42-62325DA584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n-BD"/>
          </a:p>
        </p:txBody>
      </p:sp>
      <p:sp>
        <p:nvSpPr>
          <p:cNvPr id="3" name="Subtitle 2">
            <a:extLst>
              <a:ext uri="{FF2B5EF4-FFF2-40B4-BE49-F238E27FC236}">
                <a16:creationId xmlns:a16="http://schemas.microsoft.com/office/drawing/2014/main" id="{28EA4B62-E816-4C6E-9976-61EFC50F3A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n-BD"/>
          </a:p>
        </p:txBody>
      </p:sp>
      <p:sp>
        <p:nvSpPr>
          <p:cNvPr id="4" name="Date Placeholder 3">
            <a:extLst>
              <a:ext uri="{FF2B5EF4-FFF2-40B4-BE49-F238E27FC236}">
                <a16:creationId xmlns:a16="http://schemas.microsoft.com/office/drawing/2014/main" id="{C7DE35A6-7CC0-473E-B0BE-445DCB6A01BB}"/>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5" name="Footer Placeholder 4">
            <a:extLst>
              <a:ext uri="{FF2B5EF4-FFF2-40B4-BE49-F238E27FC236}">
                <a16:creationId xmlns:a16="http://schemas.microsoft.com/office/drawing/2014/main" id="{318554CC-E501-4626-8F4A-8DE2DD33455A}"/>
              </a:ext>
            </a:extLst>
          </p:cNvPr>
          <p:cNvSpPr>
            <a:spLocks noGrp="1"/>
          </p:cNvSpPr>
          <p:nvPr>
            <p:ph type="ftr" sz="quarter" idx="11"/>
          </p:nvPr>
        </p:nvSpPr>
        <p:spPr/>
        <p:txBody>
          <a:bodyPr/>
          <a:lstStyle/>
          <a:p>
            <a:endParaRPr lang="bn-BD"/>
          </a:p>
        </p:txBody>
      </p:sp>
      <p:sp>
        <p:nvSpPr>
          <p:cNvPr id="6" name="Slide Number Placeholder 5">
            <a:extLst>
              <a:ext uri="{FF2B5EF4-FFF2-40B4-BE49-F238E27FC236}">
                <a16:creationId xmlns:a16="http://schemas.microsoft.com/office/drawing/2014/main" id="{D0173918-9064-4A2C-B030-E85BF2131BE9}"/>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28282977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D0AF5-24F1-4F1B-BE17-48AA462D1E3A}"/>
              </a:ext>
            </a:extLst>
          </p:cNvPr>
          <p:cNvSpPr>
            <a:spLocks noGrp="1"/>
          </p:cNvSpPr>
          <p:nvPr>
            <p:ph type="title"/>
          </p:nvPr>
        </p:nvSpPr>
        <p:spPr/>
        <p:txBody>
          <a:bodyPr/>
          <a:lstStyle/>
          <a:p>
            <a:r>
              <a:rPr lang="en-US"/>
              <a:t>Click to edit Master title style</a:t>
            </a:r>
            <a:endParaRPr lang="bn-BD"/>
          </a:p>
        </p:txBody>
      </p:sp>
      <p:sp>
        <p:nvSpPr>
          <p:cNvPr id="3" name="Content Placeholder 2">
            <a:extLst>
              <a:ext uri="{FF2B5EF4-FFF2-40B4-BE49-F238E27FC236}">
                <a16:creationId xmlns:a16="http://schemas.microsoft.com/office/drawing/2014/main" id="{7E8C0DF1-1A34-41F8-B779-D6077DA8CB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4" name="Date Placeholder 3">
            <a:extLst>
              <a:ext uri="{FF2B5EF4-FFF2-40B4-BE49-F238E27FC236}">
                <a16:creationId xmlns:a16="http://schemas.microsoft.com/office/drawing/2014/main" id="{BF9BEA86-ACB8-47A9-BD8F-3B567B66A75A}"/>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5" name="Footer Placeholder 4">
            <a:extLst>
              <a:ext uri="{FF2B5EF4-FFF2-40B4-BE49-F238E27FC236}">
                <a16:creationId xmlns:a16="http://schemas.microsoft.com/office/drawing/2014/main" id="{576EE9FD-ADB6-4A2F-8696-20EE56E3AD8D}"/>
              </a:ext>
            </a:extLst>
          </p:cNvPr>
          <p:cNvSpPr>
            <a:spLocks noGrp="1"/>
          </p:cNvSpPr>
          <p:nvPr>
            <p:ph type="ftr" sz="quarter" idx="11"/>
          </p:nvPr>
        </p:nvSpPr>
        <p:spPr/>
        <p:txBody>
          <a:bodyPr/>
          <a:lstStyle/>
          <a:p>
            <a:endParaRPr lang="bn-BD"/>
          </a:p>
        </p:txBody>
      </p:sp>
      <p:sp>
        <p:nvSpPr>
          <p:cNvPr id="6" name="Slide Number Placeholder 5">
            <a:extLst>
              <a:ext uri="{FF2B5EF4-FFF2-40B4-BE49-F238E27FC236}">
                <a16:creationId xmlns:a16="http://schemas.microsoft.com/office/drawing/2014/main" id="{357D6F82-BC4D-4D69-9C6C-F19E58EF969D}"/>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73551891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1217E-1A05-464C-8973-33F51EC2E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n-BD"/>
          </a:p>
        </p:txBody>
      </p:sp>
      <p:sp>
        <p:nvSpPr>
          <p:cNvPr id="3" name="Text Placeholder 2">
            <a:extLst>
              <a:ext uri="{FF2B5EF4-FFF2-40B4-BE49-F238E27FC236}">
                <a16:creationId xmlns:a16="http://schemas.microsoft.com/office/drawing/2014/main" id="{1D45F50F-75A9-4BCD-84F3-2A6E9A29EA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DC254C-E360-4B61-B558-BEA9A87796F7}"/>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5" name="Footer Placeholder 4">
            <a:extLst>
              <a:ext uri="{FF2B5EF4-FFF2-40B4-BE49-F238E27FC236}">
                <a16:creationId xmlns:a16="http://schemas.microsoft.com/office/drawing/2014/main" id="{73D264FB-7747-4912-8340-A9876FF0F3DD}"/>
              </a:ext>
            </a:extLst>
          </p:cNvPr>
          <p:cNvSpPr>
            <a:spLocks noGrp="1"/>
          </p:cNvSpPr>
          <p:nvPr>
            <p:ph type="ftr" sz="quarter" idx="11"/>
          </p:nvPr>
        </p:nvSpPr>
        <p:spPr/>
        <p:txBody>
          <a:bodyPr/>
          <a:lstStyle/>
          <a:p>
            <a:endParaRPr lang="bn-BD"/>
          </a:p>
        </p:txBody>
      </p:sp>
      <p:sp>
        <p:nvSpPr>
          <p:cNvPr id="6" name="Slide Number Placeholder 5">
            <a:extLst>
              <a:ext uri="{FF2B5EF4-FFF2-40B4-BE49-F238E27FC236}">
                <a16:creationId xmlns:a16="http://schemas.microsoft.com/office/drawing/2014/main" id="{CC1428CF-B0BC-4E05-B943-625A02B6B113}"/>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51737155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EE37-1A43-46DE-A061-FC877DAB51D3}"/>
              </a:ext>
            </a:extLst>
          </p:cNvPr>
          <p:cNvSpPr>
            <a:spLocks noGrp="1"/>
          </p:cNvSpPr>
          <p:nvPr>
            <p:ph type="title"/>
          </p:nvPr>
        </p:nvSpPr>
        <p:spPr/>
        <p:txBody>
          <a:bodyPr/>
          <a:lstStyle/>
          <a:p>
            <a:r>
              <a:rPr lang="en-US"/>
              <a:t>Click to edit Master title style</a:t>
            </a:r>
            <a:endParaRPr lang="bn-BD"/>
          </a:p>
        </p:txBody>
      </p:sp>
      <p:sp>
        <p:nvSpPr>
          <p:cNvPr id="3" name="Content Placeholder 2">
            <a:extLst>
              <a:ext uri="{FF2B5EF4-FFF2-40B4-BE49-F238E27FC236}">
                <a16:creationId xmlns:a16="http://schemas.microsoft.com/office/drawing/2014/main" id="{15CB9010-005E-41EE-8E32-6AA0CD6886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4" name="Content Placeholder 3">
            <a:extLst>
              <a:ext uri="{FF2B5EF4-FFF2-40B4-BE49-F238E27FC236}">
                <a16:creationId xmlns:a16="http://schemas.microsoft.com/office/drawing/2014/main" id="{E54D4EA9-B172-45C2-9EE5-D1A6204EE4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5" name="Date Placeholder 4">
            <a:extLst>
              <a:ext uri="{FF2B5EF4-FFF2-40B4-BE49-F238E27FC236}">
                <a16:creationId xmlns:a16="http://schemas.microsoft.com/office/drawing/2014/main" id="{6876B4ED-6639-4D60-9D69-304A4F31E1B4}"/>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6" name="Footer Placeholder 5">
            <a:extLst>
              <a:ext uri="{FF2B5EF4-FFF2-40B4-BE49-F238E27FC236}">
                <a16:creationId xmlns:a16="http://schemas.microsoft.com/office/drawing/2014/main" id="{7EA1F035-9BE8-4387-9C3E-1F57F72D9D4D}"/>
              </a:ext>
            </a:extLst>
          </p:cNvPr>
          <p:cNvSpPr>
            <a:spLocks noGrp="1"/>
          </p:cNvSpPr>
          <p:nvPr>
            <p:ph type="ftr" sz="quarter" idx="11"/>
          </p:nvPr>
        </p:nvSpPr>
        <p:spPr/>
        <p:txBody>
          <a:bodyPr/>
          <a:lstStyle/>
          <a:p>
            <a:endParaRPr lang="bn-BD"/>
          </a:p>
        </p:txBody>
      </p:sp>
      <p:sp>
        <p:nvSpPr>
          <p:cNvPr id="7" name="Slide Number Placeholder 6">
            <a:extLst>
              <a:ext uri="{FF2B5EF4-FFF2-40B4-BE49-F238E27FC236}">
                <a16:creationId xmlns:a16="http://schemas.microsoft.com/office/drawing/2014/main" id="{BB958B65-E12D-402F-8B54-8EDB608EA190}"/>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30008861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5F3AF-1436-4EFF-BEFC-71F21247CEDE}"/>
              </a:ext>
            </a:extLst>
          </p:cNvPr>
          <p:cNvSpPr>
            <a:spLocks noGrp="1"/>
          </p:cNvSpPr>
          <p:nvPr>
            <p:ph type="title"/>
          </p:nvPr>
        </p:nvSpPr>
        <p:spPr>
          <a:xfrm>
            <a:off x="839788" y="365125"/>
            <a:ext cx="10515600" cy="1325563"/>
          </a:xfrm>
        </p:spPr>
        <p:txBody>
          <a:bodyPr/>
          <a:lstStyle/>
          <a:p>
            <a:r>
              <a:rPr lang="en-US"/>
              <a:t>Click to edit Master title style</a:t>
            </a:r>
            <a:endParaRPr lang="bn-BD"/>
          </a:p>
        </p:txBody>
      </p:sp>
      <p:sp>
        <p:nvSpPr>
          <p:cNvPr id="3" name="Text Placeholder 2">
            <a:extLst>
              <a:ext uri="{FF2B5EF4-FFF2-40B4-BE49-F238E27FC236}">
                <a16:creationId xmlns:a16="http://schemas.microsoft.com/office/drawing/2014/main" id="{6815F976-23CD-48B0-94E0-519C637E20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B97D77-5361-4026-958F-534F0D2EB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5" name="Text Placeholder 4">
            <a:extLst>
              <a:ext uri="{FF2B5EF4-FFF2-40B4-BE49-F238E27FC236}">
                <a16:creationId xmlns:a16="http://schemas.microsoft.com/office/drawing/2014/main" id="{3A9489DE-548C-49FA-9683-55C8869906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24CCEF-A818-4E5B-8D28-B80EB4088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7" name="Date Placeholder 6">
            <a:extLst>
              <a:ext uri="{FF2B5EF4-FFF2-40B4-BE49-F238E27FC236}">
                <a16:creationId xmlns:a16="http://schemas.microsoft.com/office/drawing/2014/main" id="{2801AAC6-E91C-4E9D-9F58-2702C54B2305}"/>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8" name="Footer Placeholder 7">
            <a:extLst>
              <a:ext uri="{FF2B5EF4-FFF2-40B4-BE49-F238E27FC236}">
                <a16:creationId xmlns:a16="http://schemas.microsoft.com/office/drawing/2014/main" id="{32413E71-0F67-46BB-9DF3-9ACC80131C16}"/>
              </a:ext>
            </a:extLst>
          </p:cNvPr>
          <p:cNvSpPr>
            <a:spLocks noGrp="1"/>
          </p:cNvSpPr>
          <p:nvPr>
            <p:ph type="ftr" sz="quarter" idx="11"/>
          </p:nvPr>
        </p:nvSpPr>
        <p:spPr/>
        <p:txBody>
          <a:bodyPr/>
          <a:lstStyle/>
          <a:p>
            <a:endParaRPr lang="bn-BD"/>
          </a:p>
        </p:txBody>
      </p:sp>
      <p:sp>
        <p:nvSpPr>
          <p:cNvPr id="9" name="Slide Number Placeholder 8">
            <a:extLst>
              <a:ext uri="{FF2B5EF4-FFF2-40B4-BE49-F238E27FC236}">
                <a16:creationId xmlns:a16="http://schemas.microsoft.com/office/drawing/2014/main" id="{9B69227C-6511-4F7C-9C7D-9B96CAE59A30}"/>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122461230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9C47-6163-4A9E-BC3B-B76AE4F1AB26}"/>
              </a:ext>
            </a:extLst>
          </p:cNvPr>
          <p:cNvSpPr>
            <a:spLocks noGrp="1"/>
          </p:cNvSpPr>
          <p:nvPr>
            <p:ph type="title"/>
          </p:nvPr>
        </p:nvSpPr>
        <p:spPr/>
        <p:txBody>
          <a:bodyPr/>
          <a:lstStyle/>
          <a:p>
            <a:r>
              <a:rPr lang="en-US"/>
              <a:t>Click to edit Master title style</a:t>
            </a:r>
            <a:endParaRPr lang="bn-BD"/>
          </a:p>
        </p:txBody>
      </p:sp>
      <p:sp>
        <p:nvSpPr>
          <p:cNvPr id="3" name="Date Placeholder 2">
            <a:extLst>
              <a:ext uri="{FF2B5EF4-FFF2-40B4-BE49-F238E27FC236}">
                <a16:creationId xmlns:a16="http://schemas.microsoft.com/office/drawing/2014/main" id="{E63A2ADB-3E03-4009-9B67-2A8558E72CF3}"/>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4" name="Footer Placeholder 3">
            <a:extLst>
              <a:ext uri="{FF2B5EF4-FFF2-40B4-BE49-F238E27FC236}">
                <a16:creationId xmlns:a16="http://schemas.microsoft.com/office/drawing/2014/main" id="{31957AFA-A882-4ECB-BF7B-4280CB3A7DF0}"/>
              </a:ext>
            </a:extLst>
          </p:cNvPr>
          <p:cNvSpPr>
            <a:spLocks noGrp="1"/>
          </p:cNvSpPr>
          <p:nvPr>
            <p:ph type="ftr" sz="quarter" idx="11"/>
          </p:nvPr>
        </p:nvSpPr>
        <p:spPr/>
        <p:txBody>
          <a:bodyPr/>
          <a:lstStyle/>
          <a:p>
            <a:endParaRPr lang="bn-BD"/>
          </a:p>
        </p:txBody>
      </p:sp>
      <p:sp>
        <p:nvSpPr>
          <p:cNvPr id="5" name="Slide Number Placeholder 4">
            <a:extLst>
              <a:ext uri="{FF2B5EF4-FFF2-40B4-BE49-F238E27FC236}">
                <a16:creationId xmlns:a16="http://schemas.microsoft.com/office/drawing/2014/main" id="{0F5EE01A-B383-4BA4-AB48-F691E35075F7}"/>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13523816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AD2968-A0CE-4D7C-B868-DAB9D06FA788}"/>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3" name="Footer Placeholder 2">
            <a:extLst>
              <a:ext uri="{FF2B5EF4-FFF2-40B4-BE49-F238E27FC236}">
                <a16:creationId xmlns:a16="http://schemas.microsoft.com/office/drawing/2014/main" id="{15E1BC81-E269-462A-A191-56521DA5728A}"/>
              </a:ext>
            </a:extLst>
          </p:cNvPr>
          <p:cNvSpPr>
            <a:spLocks noGrp="1"/>
          </p:cNvSpPr>
          <p:nvPr>
            <p:ph type="ftr" sz="quarter" idx="11"/>
          </p:nvPr>
        </p:nvSpPr>
        <p:spPr/>
        <p:txBody>
          <a:bodyPr/>
          <a:lstStyle/>
          <a:p>
            <a:endParaRPr lang="bn-BD"/>
          </a:p>
        </p:txBody>
      </p:sp>
      <p:sp>
        <p:nvSpPr>
          <p:cNvPr id="4" name="Slide Number Placeholder 3">
            <a:extLst>
              <a:ext uri="{FF2B5EF4-FFF2-40B4-BE49-F238E27FC236}">
                <a16:creationId xmlns:a16="http://schemas.microsoft.com/office/drawing/2014/main" id="{75A4229D-26E6-4EC1-A1D4-FDD620C92764}"/>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5986669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91888-802B-4B87-8842-7560D6AA93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n-BD"/>
          </a:p>
        </p:txBody>
      </p:sp>
      <p:sp>
        <p:nvSpPr>
          <p:cNvPr id="3" name="Content Placeholder 2">
            <a:extLst>
              <a:ext uri="{FF2B5EF4-FFF2-40B4-BE49-F238E27FC236}">
                <a16:creationId xmlns:a16="http://schemas.microsoft.com/office/drawing/2014/main" id="{E5FF8E20-4291-4C64-AA93-5E0A655687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4" name="Text Placeholder 3">
            <a:extLst>
              <a:ext uri="{FF2B5EF4-FFF2-40B4-BE49-F238E27FC236}">
                <a16:creationId xmlns:a16="http://schemas.microsoft.com/office/drawing/2014/main" id="{9297F9B8-7D6E-4F96-8333-17601FB7B7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ED2A9C-6BBD-42BC-972B-461189DC4DC4}"/>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6" name="Footer Placeholder 5">
            <a:extLst>
              <a:ext uri="{FF2B5EF4-FFF2-40B4-BE49-F238E27FC236}">
                <a16:creationId xmlns:a16="http://schemas.microsoft.com/office/drawing/2014/main" id="{6503C65A-0F2C-44C8-96B3-E2574BDCC2A3}"/>
              </a:ext>
            </a:extLst>
          </p:cNvPr>
          <p:cNvSpPr>
            <a:spLocks noGrp="1"/>
          </p:cNvSpPr>
          <p:nvPr>
            <p:ph type="ftr" sz="quarter" idx="11"/>
          </p:nvPr>
        </p:nvSpPr>
        <p:spPr/>
        <p:txBody>
          <a:bodyPr/>
          <a:lstStyle/>
          <a:p>
            <a:endParaRPr lang="bn-BD"/>
          </a:p>
        </p:txBody>
      </p:sp>
      <p:sp>
        <p:nvSpPr>
          <p:cNvPr id="7" name="Slide Number Placeholder 6">
            <a:extLst>
              <a:ext uri="{FF2B5EF4-FFF2-40B4-BE49-F238E27FC236}">
                <a16:creationId xmlns:a16="http://schemas.microsoft.com/office/drawing/2014/main" id="{0E144B15-8D81-4EA8-A9AA-DDCD81D1F292}"/>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319231328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39B49-5E49-4311-BB10-1602E5C3F9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n-BD"/>
          </a:p>
        </p:txBody>
      </p:sp>
      <p:sp>
        <p:nvSpPr>
          <p:cNvPr id="3" name="Picture Placeholder 2">
            <a:extLst>
              <a:ext uri="{FF2B5EF4-FFF2-40B4-BE49-F238E27FC236}">
                <a16:creationId xmlns:a16="http://schemas.microsoft.com/office/drawing/2014/main" id="{F77F1957-6508-431E-AA3E-309E61561C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n-BD"/>
          </a:p>
        </p:txBody>
      </p:sp>
      <p:sp>
        <p:nvSpPr>
          <p:cNvPr id="4" name="Text Placeholder 3">
            <a:extLst>
              <a:ext uri="{FF2B5EF4-FFF2-40B4-BE49-F238E27FC236}">
                <a16:creationId xmlns:a16="http://schemas.microsoft.com/office/drawing/2014/main" id="{A096D90B-A8FE-4E18-BD90-1659CD2770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A4F1A8-4EB5-4AEE-AA80-04C625FA4A50}"/>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6" name="Footer Placeholder 5">
            <a:extLst>
              <a:ext uri="{FF2B5EF4-FFF2-40B4-BE49-F238E27FC236}">
                <a16:creationId xmlns:a16="http://schemas.microsoft.com/office/drawing/2014/main" id="{72D939B0-2EB8-4D8D-92EB-D637F3B8C92A}"/>
              </a:ext>
            </a:extLst>
          </p:cNvPr>
          <p:cNvSpPr>
            <a:spLocks noGrp="1"/>
          </p:cNvSpPr>
          <p:nvPr>
            <p:ph type="ftr" sz="quarter" idx="11"/>
          </p:nvPr>
        </p:nvSpPr>
        <p:spPr/>
        <p:txBody>
          <a:bodyPr/>
          <a:lstStyle/>
          <a:p>
            <a:endParaRPr lang="bn-BD"/>
          </a:p>
        </p:txBody>
      </p:sp>
      <p:sp>
        <p:nvSpPr>
          <p:cNvPr id="7" name="Slide Number Placeholder 6">
            <a:extLst>
              <a:ext uri="{FF2B5EF4-FFF2-40B4-BE49-F238E27FC236}">
                <a16:creationId xmlns:a16="http://schemas.microsoft.com/office/drawing/2014/main" id="{B60E27D9-04B4-4BA4-9D71-4FD448725A93}"/>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4492466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A2850-4064-462E-9ED3-7F99592265FC}"/>
              </a:ext>
            </a:extLst>
          </p:cNvPr>
          <p:cNvSpPr>
            <a:spLocks noGrp="1"/>
          </p:cNvSpPr>
          <p:nvPr>
            <p:ph type="title"/>
          </p:nvPr>
        </p:nvSpPr>
        <p:spPr/>
        <p:txBody>
          <a:bodyPr/>
          <a:lstStyle/>
          <a:p>
            <a:r>
              <a:rPr lang="en-US"/>
              <a:t>Click to edit Master title style</a:t>
            </a:r>
            <a:endParaRPr lang="bn-BD"/>
          </a:p>
        </p:txBody>
      </p:sp>
      <p:sp>
        <p:nvSpPr>
          <p:cNvPr id="3" name="Vertical Text Placeholder 2">
            <a:extLst>
              <a:ext uri="{FF2B5EF4-FFF2-40B4-BE49-F238E27FC236}">
                <a16:creationId xmlns:a16="http://schemas.microsoft.com/office/drawing/2014/main" id="{25623585-71DB-4310-ACF0-17DE874AD7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4" name="Date Placeholder 3">
            <a:extLst>
              <a:ext uri="{FF2B5EF4-FFF2-40B4-BE49-F238E27FC236}">
                <a16:creationId xmlns:a16="http://schemas.microsoft.com/office/drawing/2014/main" id="{5BF4927E-B9FD-4BEB-B69D-8B9BDF8C0C2A}"/>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5" name="Footer Placeholder 4">
            <a:extLst>
              <a:ext uri="{FF2B5EF4-FFF2-40B4-BE49-F238E27FC236}">
                <a16:creationId xmlns:a16="http://schemas.microsoft.com/office/drawing/2014/main" id="{D2BE7149-215D-4792-BD5C-1454E288E395}"/>
              </a:ext>
            </a:extLst>
          </p:cNvPr>
          <p:cNvSpPr>
            <a:spLocks noGrp="1"/>
          </p:cNvSpPr>
          <p:nvPr>
            <p:ph type="ftr" sz="quarter" idx="11"/>
          </p:nvPr>
        </p:nvSpPr>
        <p:spPr/>
        <p:txBody>
          <a:bodyPr/>
          <a:lstStyle/>
          <a:p>
            <a:endParaRPr lang="bn-BD"/>
          </a:p>
        </p:txBody>
      </p:sp>
      <p:sp>
        <p:nvSpPr>
          <p:cNvPr id="6" name="Slide Number Placeholder 5">
            <a:extLst>
              <a:ext uri="{FF2B5EF4-FFF2-40B4-BE49-F238E27FC236}">
                <a16:creationId xmlns:a16="http://schemas.microsoft.com/office/drawing/2014/main" id="{DE4903E8-85CA-4DBC-9508-24C40CA4EF1E}"/>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424404726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FA91A7-5533-4A47-BA02-8300C3D78F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bn-BD"/>
          </a:p>
        </p:txBody>
      </p:sp>
      <p:sp>
        <p:nvSpPr>
          <p:cNvPr id="3" name="Vertical Text Placeholder 2">
            <a:extLst>
              <a:ext uri="{FF2B5EF4-FFF2-40B4-BE49-F238E27FC236}">
                <a16:creationId xmlns:a16="http://schemas.microsoft.com/office/drawing/2014/main" id="{A3903F2E-9616-4CBF-AAAA-C55D7DBB7B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4" name="Date Placeholder 3">
            <a:extLst>
              <a:ext uri="{FF2B5EF4-FFF2-40B4-BE49-F238E27FC236}">
                <a16:creationId xmlns:a16="http://schemas.microsoft.com/office/drawing/2014/main" id="{BBCFC36F-0E0B-4415-A9FB-F99967CC1DFD}"/>
              </a:ext>
            </a:extLst>
          </p:cNvPr>
          <p:cNvSpPr>
            <a:spLocks noGrp="1"/>
          </p:cNvSpPr>
          <p:nvPr>
            <p:ph type="dt" sz="half" idx="10"/>
          </p:nvPr>
        </p:nvSpPr>
        <p:spPr/>
        <p:txBody>
          <a:bodyPr/>
          <a:lstStyle/>
          <a:p>
            <a:fld id="{95BA0C69-6667-4438-A9C4-D64965DF092A}" type="datetimeFigureOut">
              <a:rPr lang="bn-BD" smtClean="0"/>
              <a:t>15/5/1444</a:t>
            </a:fld>
            <a:endParaRPr lang="bn-BD"/>
          </a:p>
        </p:txBody>
      </p:sp>
      <p:sp>
        <p:nvSpPr>
          <p:cNvPr id="5" name="Footer Placeholder 4">
            <a:extLst>
              <a:ext uri="{FF2B5EF4-FFF2-40B4-BE49-F238E27FC236}">
                <a16:creationId xmlns:a16="http://schemas.microsoft.com/office/drawing/2014/main" id="{548E410E-CBFE-4024-9D49-A7334EE9A49C}"/>
              </a:ext>
            </a:extLst>
          </p:cNvPr>
          <p:cNvSpPr>
            <a:spLocks noGrp="1"/>
          </p:cNvSpPr>
          <p:nvPr>
            <p:ph type="ftr" sz="quarter" idx="11"/>
          </p:nvPr>
        </p:nvSpPr>
        <p:spPr/>
        <p:txBody>
          <a:bodyPr/>
          <a:lstStyle/>
          <a:p>
            <a:endParaRPr lang="bn-BD"/>
          </a:p>
        </p:txBody>
      </p:sp>
      <p:sp>
        <p:nvSpPr>
          <p:cNvPr id="6" name="Slide Number Placeholder 5">
            <a:extLst>
              <a:ext uri="{FF2B5EF4-FFF2-40B4-BE49-F238E27FC236}">
                <a16:creationId xmlns:a16="http://schemas.microsoft.com/office/drawing/2014/main" id="{9C6A7E1E-4E0C-4BA1-B613-9FA2A28E8D4E}"/>
              </a:ext>
            </a:extLst>
          </p:cNvPr>
          <p:cNvSpPr>
            <a:spLocks noGrp="1"/>
          </p:cNvSpPr>
          <p:nvPr>
            <p:ph type="sldNum" sz="quarter" idx="12"/>
          </p:nvPr>
        </p:nvSpPr>
        <p:spPr/>
        <p:txBody>
          <a:bodyPr/>
          <a:lstStyle/>
          <a:p>
            <a:fld id="{399003F6-1962-4C57-BCBA-8B61979D0865}" type="slidenum">
              <a:rPr lang="bn-BD" smtClean="0"/>
              <a:t>‹#›</a:t>
            </a:fld>
            <a:endParaRPr lang="bn-BD"/>
          </a:p>
        </p:txBody>
      </p:sp>
    </p:spTree>
    <p:extLst>
      <p:ext uri="{BB962C8B-B14F-4D97-AF65-F5344CB8AC3E}">
        <p14:creationId xmlns:p14="http://schemas.microsoft.com/office/powerpoint/2010/main" val="320309529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7D471A-0153-4D58-8970-33BE940CE0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n-BD"/>
          </a:p>
        </p:txBody>
      </p:sp>
      <p:sp>
        <p:nvSpPr>
          <p:cNvPr id="3" name="Text Placeholder 2">
            <a:extLst>
              <a:ext uri="{FF2B5EF4-FFF2-40B4-BE49-F238E27FC236}">
                <a16:creationId xmlns:a16="http://schemas.microsoft.com/office/drawing/2014/main" id="{43478770-69C4-478B-8307-6F125FE7A8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n-BD"/>
          </a:p>
        </p:txBody>
      </p:sp>
      <p:sp>
        <p:nvSpPr>
          <p:cNvPr id="4" name="Date Placeholder 3">
            <a:extLst>
              <a:ext uri="{FF2B5EF4-FFF2-40B4-BE49-F238E27FC236}">
                <a16:creationId xmlns:a16="http://schemas.microsoft.com/office/drawing/2014/main" id="{57D1D9D2-ACF9-46E3-8AC6-9E8837A02F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BA0C69-6667-4438-A9C4-D64965DF092A}" type="datetimeFigureOut">
              <a:rPr lang="bn-BD" smtClean="0"/>
              <a:t>15/5/1444</a:t>
            </a:fld>
            <a:endParaRPr lang="bn-BD"/>
          </a:p>
        </p:txBody>
      </p:sp>
      <p:sp>
        <p:nvSpPr>
          <p:cNvPr id="5" name="Footer Placeholder 4">
            <a:extLst>
              <a:ext uri="{FF2B5EF4-FFF2-40B4-BE49-F238E27FC236}">
                <a16:creationId xmlns:a16="http://schemas.microsoft.com/office/drawing/2014/main" id="{4E2A008A-32FF-4D5B-B35C-E7C9C89B10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n-BD"/>
          </a:p>
        </p:txBody>
      </p:sp>
      <p:sp>
        <p:nvSpPr>
          <p:cNvPr id="6" name="Slide Number Placeholder 5">
            <a:extLst>
              <a:ext uri="{FF2B5EF4-FFF2-40B4-BE49-F238E27FC236}">
                <a16:creationId xmlns:a16="http://schemas.microsoft.com/office/drawing/2014/main" id="{E91EDE39-05D8-4B8A-AA0F-0B0CE6F413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9003F6-1962-4C57-BCBA-8B61979D0865}" type="slidenum">
              <a:rPr lang="bn-BD" smtClean="0"/>
              <a:t>‹#›</a:t>
            </a:fld>
            <a:endParaRPr lang="bn-BD"/>
          </a:p>
        </p:txBody>
      </p:sp>
    </p:spTree>
    <p:extLst>
      <p:ext uri="{BB962C8B-B14F-4D97-AF65-F5344CB8AC3E}">
        <p14:creationId xmlns:p14="http://schemas.microsoft.com/office/powerpoint/2010/main" val="142212345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bn-B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0DB64B81-CF10-43F3-BFA4-DC2A2D2FB0C8}"/>
              </a:ext>
            </a:extLst>
          </p:cNvPr>
          <p:cNvSpPr>
            <a:spLocks noGrp="1"/>
          </p:cNvSpPr>
          <p:nvPr>
            <p:ph type="title"/>
          </p:nvPr>
        </p:nvSpPr>
        <p:spPr>
          <a:xfrm>
            <a:off x="717030" y="1498172"/>
            <a:ext cx="10751084" cy="2439854"/>
          </a:xfrm>
          <a:noFill/>
        </p:spPr>
        <p:txBody>
          <a:bodyPr vert="horz" lIns="91440" tIns="45720" rIns="91440" bIns="45720" rtlCol="0" anchor="ctr">
            <a:normAutofit/>
          </a:bodyPr>
          <a:lstStyle/>
          <a:p>
            <a:pPr algn="ctr"/>
            <a:r>
              <a:rPr lang="en-US" sz="3600" b="1">
                <a:latin typeface="+mn-lt"/>
              </a:rPr>
              <a:t>IE 511 – DOE Final Project</a:t>
            </a:r>
            <a:br>
              <a:rPr lang="en-US" sz="3600" b="1"/>
            </a:br>
            <a:r>
              <a:rPr lang="en-US" sz="3600" b="1">
                <a:latin typeface="Calibri"/>
                <a:cs typeface="Calibri"/>
              </a:rPr>
              <a:t>Analysis of</a:t>
            </a:r>
            <a:r>
              <a:rPr lang="en-US" sz="3600" b="1">
                <a:latin typeface="+mn-lt"/>
              </a:rPr>
              <a:t> effects of changes in a poster layout on the reading time of graduate students</a:t>
            </a:r>
            <a:endParaRPr lang="en-US" sz="3600" b="1" kern="1200">
              <a:latin typeface="+mn-lt"/>
            </a:endParaRP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688005D0-D40F-AE2C-D235-1F24906A7F43}"/>
              </a:ext>
            </a:extLst>
          </p:cNvPr>
          <p:cNvSpPr txBox="1"/>
          <p:nvPr/>
        </p:nvSpPr>
        <p:spPr>
          <a:xfrm>
            <a:off x="4063999" y="4900083"/>
            <a:ext cx="4075641"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200" b="1" dirty="0">
                <a:cs typeface="Calibri"/>
              </a:rPr>
              <a:t>Team members</a:t>
            </a:r>
            <a:r>
              <a:rPr lang="en-US" sz="2200" b="1">
                <a:cs typeface="Calibri"/>
              </a:rPr>
              <a:t>:</a:t>
            </a:r>
            <a:br>
              <a:rPr lang="en-US" sz="2200" b="1">
                <a:cs typeface="Calibri"/>
              </a:rPr>
            </a:br>
            <a:r>
              <a:rPr lang="en-US" sz="2200">
                <a:cs typeface="Calibri"/>
              </a:rPr>
              <a:t>Ana Camargo</a:t>
            </a:r>
            <a:br>
              <a:rPr lang="en-US" sz="2200">
                <a:cs typeface="Calibri"/>
              </a:rPr>
            </a:br>
            <a:r>
              <a:rPr lang="en-US" sz="2200">
                <a:cs typeface="Calibri"/>
              </a:rPr>
              <a:t>Fahim Ahamed</a:t>
            </a:r>
            <a:br>
              <a:rPr lang="en-US" sz="2200">
                <a:cs typeface="Calibri"/>
              </a:rPr>
            </a:br>
            <a:r>
              <a:rPr lang="en-US" sz="2200">
                <a:cs typeface="Calibri"/>
              </a:rPr>
              <a:t>Tasnia Biswas</a:t>
            </a:r>
            <a:endParaRPr lang="en-US" sz="2200">
              <a:cs typeface="+mn-lt"/>
            </a:endParaRPr>
          </a:p>
          <a:p>
            <a:pPr algn="l"/>
            <a:endParaRPr lang="en-US" sz="2200">
              <a:cs typeface="Calibri"/>
            </a:endParaRPr>
          </a:p>
        </p:txBody>
      </p:sp>
    </p:spTree>
    <p:extLst>
      <p:ext uri="{BB962C8B-B14F-4D97-AF65-F5344CB8AC3E}">
        <p14:creationId xmlns:p14="http://schemas.microsoft.com/office/powerpoint/2010/main" val="2644654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8E77C8C8-0B5F-40A4-8AE7-665FECB46F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45" name="Rectangle 44">
              <a:extLst>
                <a:ext uri="{FF2B5EF4-FFF2-40B4-BE49-F238E27FC236}">
                  <a16:creationId xmlns:a16="http://schemas.microsoft.com/office/drawing/2014/main" id="{2813FAB4-E18A-4CFA-B75B-92090037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412C0C28-5850-4F97-8E19-24B1DD749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E46301B-5438-42EB-9413-13AAF5BF9259}"/>
              </a:ext>
            </a:extLst>
          </p:cNvPr>
          <p:cNvSpPr>
            <a:spLocks noGrp="1"/>
          </p:cNvSpPr>
          <p:nvPr>
            <p:ph type="title"/>
          </p:nvPr>
        </p:nvSpPr>
        <p:spPr>
          <a:xfrm>
            <a:off x="641560" y="183383"/>
            <a:ext cx="10905066" cy="775109"/>
          </a:xfrm>
        </p:spPr>
        <p:txBody>
          <a:bodyPr>
            <a:normAutofit/>
          </a:bodyPr>
          <a:lstStyle/>
          <a:p>
            <a:r>
              <a:rPr lang="en-US" sz="3600" b="1"/>
              <a:t>Introduction</a:t>
            </a:r>
            <a:endParaRPr lang="bn-BD" sz="3600" b="1"/>
          </a:p>
        </p:txBody>
      </p:sp>
      <p:grpSp>
        <p:nvGrpSpPr>
          <p:cNvPr id="48" name="Group 47">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9" name="Isosceles Triangle 48">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32" name="Content Placeholder 2">
            <a:extLst>
              <a:ext uri="{FF2B5EF4-FFF2-40B4-BE49-F238E27FC236}">
                <a16:creationId xmlns:a16="http://schemas.microsoft.com/office/drawing/2014/main" id="{7A6F2927-3BC2-4255-A443-F48405F3340C}"/>
              </a:ext>
            </a:extLst>
          </p:cNvPr>
          <p:cNvGraphicFramePr>
            <a:graphicFrameLocks noGrp="1"/>
          </p:cNvGraphicFramePr>
          <p:nvPr>
            <p:ph idx="1"/>
            <p:extLst>
              <p:ext uri="{D42A27DB-BD31-4B8C-83A1-F6EECF244321}">
                <p14:modId xmlns:p14="http://schemas.microsoft.com/office/powerpoint/2010/main" val="614139208"/>
              </p:ext>
            </p:extLst>
          </p:nvPr>
        </p:nvGraphicFramePr>
        <p:xfrm>
          <a:off x="874393" y="1864531"/>
          <a:ext cx="10443213" cy="3362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0" name="Slide Number Placeholder 39">
            <a:extLst>
              <a:ext uri="{FF2B5EF4-FFF2-40B4-BE49-F238E27FC236}">
                <a16:creationId xmlns:a16="http://schemas.microsoft.com/office/drawing/2014/main" id="{BDBD6654-C38F-DDCD-C4C0-12AA631B4F97}"/>
              </a:ext>
            </a:extLst>
          </p:cNvPr>
          <p:cNvSpPr>
            <a:spLocks noGrp="1"/>
          </p:cNvSpPr>
          <p:nvPr>
            <p:ph type="sldNum" sz="quarter" idx="12"/>
          </p:nvPr>
        </p:nvSpPr>
        <p:spPr/>
        <p:txBody>
          <a:bodyPr/>
          <a:lstStyle/>
          <a:p>
            <a:fld id="{399003F6-1962-4C57-BCBA-8B61979D0865}" type="slidenum">
              <a:rPr lang="bn-BD" smtClean="0"/>
              <a:t>2</a:t>
            </a:fld>
            <a:endParaRPr lang="en-US"/>
          </a:p>
        </p:txBody>
      </p:sp>
    </p:spTree>
    <p:extLst>
      <p:ext uri="{BB962C8B-B14F-4D97-AF65-F5344CB8AC3E}">
        <p14:creationId xmlns:p14="http://schemas.microsoft.com/office/powerpoint/2010/main" val="3429277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39" name="Rectangle 38">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33FB07C-6CF3-4DFA-B54E-AC6BE3B75AE0}"/>
              </a:ext>
            </a:extLst>
          </p:cNvPr>
          <p:cNvSpPr>
            <a:spLocks noGrp="1"/>
          </p:cNvSpPr>
          <p:nvPr>
            <p:ph type="title"/>
          </p:nvPr>
        </p:nvSpPr>
        <p:spPr>
          <a:xfrm>
            <a:off x="665214" y="179917"/>
            <a:ext cx="10861005" cy="793777"/>
          </a:xfrm>
        </p:spPr>
        <p:txBody>
          <a:bodyPr>
            <a:normAutofit/>
          </a:bodyPr>
          <a:lstStyle/>
          <a:p>
            <a:r>
              <a:rPr lang="en-US" sz="3600" b="1"/>
              <a:t>Experimental units and Response variables</a:t>
            </a:r>
            <a:endParaRPr lang="bn-BD" sz="3600" b="1"/>
          </a:p>
        </p:txBody>
      </p:sp>
      <p:sp>
        <p:nvSpPr>
          <p:cNvPr id="3" name="Content Placeholder 2">
            <a:extLst>
              <a:ext uri="{FF2B5EF4-FFF2-40B4-BE49-F238E27FC236}">
                <a16:creationId xmlns:a16="http://schemas.microsoft.com/office/drawing/2014/main" id="{E8EB9E0A-D3E5-4386-9766-433B31A0B000}"/>
              </a:ext>
            </a:extLst>
          </p:cNvPr>
          <p:cNvSpPr>
            <a:spLocks noGrp="1"/>
          </p:cNvSpPr>
          <p:nvPr>
            <p:ph idx="1"/>
          </p:nvPr>
        </p:nvSpPr>
        <p:spPr>
          <a:xfrm>
            <a:off x="624021" y="1670241"/>
            <a:ext cx="5343050" cy="4393982"/>
          </a:xfrm>
        </p:spPr>
        <p:txBody>
          <a:bodyPr vert="horz" lIns="91440" tIns="45720" rIns="91440" bIns="45720" rtlCol="0" anchor="t">
            <a:normAutofit/>
          </a:bodyPr>
          <a:lstStyle/>
          <a:p>
            <a:pPr algn="just">
              <a:lnSpc>
                <a:spcPct val="100000"/>
              </a:lnSpc>
            </a:pPr>
            <a:r>
              <a:rPr lang="en-US" sz="1800" b="1" i="1" dirty="0"/>
              <a:t>Experimental Unit: </a:t>
            </a:r>
            <a:r>
              <a:rPr lang="en-US" sz="1800" b="1" dirty="0"/>
              <a:t> </a:t>
            </a:r>
            <a:r>
              <a:rPr lang="en-US" sz="1800" dirty="0"/>
              <a:t>Posters prepared in a MS word document (with all different treatment combinations) and then printed on a letter sized paper (8.5"x11").</a:t>
            </a:r>
            <a:endParaRPr lang="en-US" dirty="0"/>
          </a:p>
          <a:p>
            <a:pPr algn="just">
              <a:lnSpc>
                <a:spcPct val="100000"/>
              </a:lnSpc>
            </a:pPr>
            <a:endParaRPr lang="en-US" sz="1800" dirty="0">
              <a:cs typeface="Calibri"/>
            </a:endParaRPr>
          </a:p>
          <a:p>
            <a:pPr algn="just">
              <a:lnSpc>
                <a:spcPct val="100000"/>
              </a:lnSpc>
            </a:pPr>
            <a:r>
              <a:rPr lang="en-US" sz="1800" b="1" i="1" dirty="0"/>
              <a:t>First Response Variable: </a:t>
            </a:r>
            <a:r>
              <a:rPr lang="en-US" sz="1800" dirty="0"/>
              <a:t>mean of the reading time (repeated measurements, average of the time of 4 different grad students).</a:t>
            </a:r>
            <a:endParaRPr lang="en-US" sz="1800" dirty="0">
              <a:cs typeface="Calibri"/>
            </a:endParaRPr>
          </a:p>
          <a:p>
            <a:pPr algn="just">
              <a:lnSpc>
                <a:spcPct val="100000"/>
              </a:lnSpc>
            </a:pPr>
            <a:r>
              <a:rPr lang="en-US" sz="1800" b="1" i="1" dirty="0"/>
              <a:t>Second Response Variable</a:t>
            </a:r>
            <a:r>
              <a:rPr lang="en-US" sz="1800" b="1" dirty="0"/>
              <a:t>:</a:t>
            </a:r>
            <a:r>
              <a:rPr lang="en-US" sz="1800" dirty="0"/>
              <a:t> standard deviation of the time taken to 4 different grad students. </a:t>
            </a:r>
            <a:endParaRPr lang="en-US" sz="1800" dirty="0">
              <a:cs typeface="Calibri"/>
            </a:endParaRPr>
          </a:p>
        </p:txBody>
      </p:sp>
      <p:grpSp>
        <p:nvGrpSpPr>
          <p:cNvPr id="42" name="Group 4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3" name="Isosceles Triangle 4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Table 6">
            <a:extLst>
              <a:ext uri="{FF2B5EF4-FFF2-40B4-BE49-F238E27FC236}">
                <a16:creationId xmlns:a16="http://schemas.microsoft.com/office/drawing/2014/main" id="{D73FED3B-0245-4690-A57F-164B5552FEAF}"/>
              </a:ext>
            </a:extLst>
          </p:cNvPr>
          <p:cNvGraphicFramePr>
            <a:graphicFrameLocks noGrp="1"/>
          </p:cNvGraphicFramePr>
          <p:nvPr>
            <p:extLst>
              <p:ext uri="{D42A27DB-BD31-4B8C-83A1-F6EECF244321}">
                <p14:modId xmlns:p14="http://schemas.microsoft.com/office/powerpoint/2010/main" val="2477153820"/>
              </p:ext>
            </p:extLst>
          </p:nvPr>
        </p:nvGraphicFramePr>
        <p:xfrm>
          <a:off x="6417216" y="2405580"/>
          <a:ext cx="4971775" cy="2031902"/>
        </p:xfrm>
        <a:graphic>
          <a:graphicData uri="http://schemas.openxmlformats.org/drawingml/2006/table">
            <a:tbl>
              <a:tblPr firstRow="1" bandRow="1">
                <a:tableStyleId>{5C22544A-7EE6-4342-B048-85BDC9FD1C3A}</a:tableStyleId>
              </a:tblPr>
              <a:tblGrid>
                <a:gridCol w="1830648">
                  <a:extLst>
                    <a:ext uri="{9D8B030D-6E8A-4147-A177-3AD203B41FA5}">
                      <a16:colId xmlns:a16="http://schemas.microsoft.com/office/drawing/2014/main" val="2006481106"/>
                    </a:ext>
                  </a:extLst>
                </a:gridCol>
                <a:gridCol w="1534583">
                  <a:extLst>
                    <a:ext uri="{9D8B030D-6E8A-4147-A177-3AD203B41FA5}">
                      <a16:colId xmlns:a16="http://schemas.microsoft.com/office/drawing/2014/main" val="615507586"/>
                    </a:ext>
                  </a:extLst>
                </a:gridCol>
                <a:gridCol w="1606544">
                  <a:extLst>
                    <a:ext uri="{9D8B030D-6E8A-4147-A177-3AD203B41FA5}">
                      <a16:colId xmlns:a16="http://schemas.microsoft.com/office/drawing/2014/main" val="721368358"/>
                    </a:ext>
                  </a:extLst>
                </a:gridCol>
              </a:tblGrid>
              <a:tr h="500782">
                <a:tc>
                  <a:txBody>
                    <a:bodyPr/>
                    <a:lstStyle/>
                    <a:p>
                      <a:pPr algn="ctr"/>
                      <a:r>
                        <a:rPr lang="en-US" sz="1800"/>
                        <a:t>Response Variable</a:t>
                      </a:r>
                      <a:endParaRPr lang="bn-BD" sz="1800"/>
                    </a:p>
                  </a:txBody>
                  <a:tcPr marL="113128" marR="113128" marT="56563" marB="56563"/>
                </a:tc>
                <a:tc>
                  <a:txBody>
                    <a:bodyPr/>
                    <a:lstStyle/>
                    <a:p>
                      <a:pPr algn="ctr"/>
                      <a:r>
                        <a:rPr lang="en-US" sz="1800"/>
                        <a:t>Measuring Device</a:t>
                      </a:r>
                      <a:endParaRPr lang="bn-BD" sz="1800"/>
                    </a:p>
                  </a:txBody>
                  <a:tcPr marL="113128" marR="113128" marT="56563" marB="56563"/>
                </a:tc>
                <a:tc>
                  <a:txBody>
                    <a:bodyPr/>
                    <a:lstStyle/>
                    <a:p>
                      <a:pPr algn="ctr"/>
                      <a:r>
                        <a:rPr lang="en-US" sz="1800"/>
                        <a:t>Measurement Unit</a:t>
                      </a:r>
                      <a:endParaRPr lang="bn-BD" sz="1800"/>
                    </a:p>
                  </a:txBody>
                  <a:tcPr marL="113128" marR="113128" marT="56563" marB="56563"/>
                </a:tc>
                <a:extLst>
                  <a:ext uri="{0D108BD9-81ED-4DB2-BD59-A6C34878D82A}">
                    <a16:rowId xmlns:a16="http://schemas.microsoft.com/office/drawing/2014/main" val="1133715202"/>
                  </a:ext>
                </a:extLst>
              </a:tr>
              <a:tr h="500782">
                <a:tc>
                  <a:txBody>
                    <a:bodyPr/>
                    <a:lstStyle/>
                    <a:p>
                      <a:pPr algn="ctr"/>
                      <a:r>
                        <a:rPr lang="en-US" sz="1800"/>
                        <a:t>1. Average time </a:t>
                      </a:r>
                      <a:endParaRPr lang="bn-BD" sz="1800"/>
                    </a:p>
                  </a:txBody>
                  <a:tcPr marL="113128" marR="113128" marT="56563" marB="56563"/>
                </a:tc>
                <a:tc>
                  <a:txBody>
                    <a:bodyPr/>
                    <a:lstStyle/>
                    <a:p>
                      <a:pPr algn="ctr"/>
                      <a:r>
                        <a:rPr lang="en-US" sz="1800"/>
                        <a:t>Mobile Stopwatch</a:t>
                      </a:r>
                      <a:endParaRPr lang="bn-BD" sz="1800"/>
                    </a:p>
                  </a:txBody>
                  <a:tcPr marL="113128" marR="113128" marT="56563" marB="56563"/>
                </a:tc>
                <a:tc>
                  <a:txBody>
                    <a:bodyPr/>
                    <a:lstStyle/>
                    <a:p>
                      <a:pPr algn="ctr"/>
                      <a:r>
                        <a:rPr lang="en-US" sz="1800"/>
                        <a:t>Seconds</a:t>
                      </a:r>
                      <a:endParaRPr lang="bn-BD" sz="1800"/>
                    </a:p>
                  </a:txBody>
                  <a:tcPr marL="113128" marR="113128" marT="56563" marB="56563"/>
                </a:tc>
                <a:extLst>
                  <a:ext uri="{0D108BD9-81ED-4DB2-BD59-A6C34878D82A}">
                    <a16:rowId xmlns:a16="http://schemas.microsoft.com/office/drawing/2014/main" val="915506128"/>
                  </a:ext>
                </a:extLst>
              </a:tr>
              <a:tr h="708370">
                <a:tc>
                  <a:txBody>
                    <a:bodyPr/>
                    <a:lstStyle/>
                    <a:p>
                      <a:pPr algn="ctr"/>
                      <a:r>
                        <a:rPr lang="en-US" sz="1800"/>
                        <a:t>2.  Standard deviation</a:t>
                      </a:r>
                      <a:endParaRPr lang="bn-BD" sz="1800"/>
                    </a:p>
                  </a:txBody>
                  <a:tcPr marL="113128" marR="113128" marT="56563" marB="56563"/>
                </a:tc>
                <a:tc>
                  <a:txBody>
                    <a:bodyPr/>
                    <a:lstStyle/>
                    <a:p>
                      <a:pPr algn="ctr"/>
                      <a:r>
                        <a:rPr lang="en-US" sz="1800"/>
                        <a:t>MS Excel calculation</a:t>
                      </a:r>
                      <a:endParaRPr lang="bn-BD" sz="1800"/>
                    </a:p>
                  </a:txBody>
                  <a:tcPr marL="113128" marR="113128" marT="56563" marB="56563"/>
                </a:tc>
                <a:tc>
                  <a:txBody>
                    <a:bodyPr/>
                    <a:lstStyle/>
                    <a:p>
                      <a:pPr algn="ctr"/>
                      <a:r>
                        <a:rPr lang="en-US" sz="1800"/>
                        <a:t>Seconds</a:t>
                      </a:r>
                      <a:endParaRPr lang="bn-BD" sz="1800"/>
                    </a:p>
                  </a:txBody>
                  <a:tcPr marL="113128" marR="113128" marT="56563" marB="56563"/>
                </a:tc>
                <a:extLst>
                  <a:ext uri="{0D108BD9-81ED-4DB2-BD59-A6C34878D82A}">
                    <a16:rowId xmlns:a16="http://schemas.microsoft.com/office/drawing/2014/main" val="2268634305"/>
                  </a:ext>
                </a:extLst>
              </a:tr>
            </a:tbl>
          </a:graphicData>
        </a:graphic>
      </p:graphicFrame>
      <p:sp>
        <p:nvSpPr>
          <p:cNvPr id="4" name="Slide Number Placeholder 3">
            <a:extLst>
              <a:ext uri="{FF2B5EF4-FFF2-40B4-BE49-F238E27FC236}">
                <a16:creationId xmlns:a16="http://schemas.microsoft.com/office/drawing/2014/main" id="{95592991-AA2C-FFFC-DB60-178EBA89484D}"/>
              </a:ext>
            </a:extLst>
          </p:cNvPr>
          <p:cNvSpPr>
            <a:spLocks noGrp="1"/>
          </p:cNvSpPr>
          <p:nvPr>
            <p:ph type="sldNum" sz="quarter" idx="12"/>
          </p:nvPr>
        </p:nvSpPr>
        <p:spPr/>
        <p:txBody>
          <a:bodyPr/>
          <a:lstStyle/>
          <a:p>
            <a:fld id="{399003F6-1962-4C57-BCBA-8B61979D0865}" type="slidenum">
              <a:rPr lang="bn-BD" smtClean="0"/>
              <a:t>3</a:t>
            </a:fld>
            <a:endParaRPr lang="en-US"/>
          </a:p>
        </p:txBody>
      </p:sp>
    </p:spTree>
    <p:extLst>
      <p:ext uri="{BB962C8B-B14F-4D97-AF65-F5344CB8AC3E}">
        <p14:creationId xmlns:p14="http://schemas.microsoft.com/office/powerpoint/2010/main" val="317144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39" name="Rectangle 38">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3" name="Isosceles Triangle 4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itle 1">
            <a:extLst>
              <a:ext uri="{FF2B5EF4-FFF2-40B4-BE49-F238E27FC236}">
                <a16:creationId xmlns:a16="http://schemas.microsoft.com/office/drawing/2014/main" id="{706AC309-7CA8-4F94-B161-4FD520CE4BE9}"/>
              </a:ext>
            </a:extLst>
          </p:cNvPr>
          <p:cNvSpPr>
            <a:spLocks noGrp="1"/>
          </p:cNvSpPr>
          <p:nvPr>
            <p:ph type="title"/>
          </p:nvPr>
        </p:nvSpPr>
        <p:spPr>
          <a:xfrm>
            <a:off x="785283" y="285750"/>
            <a:ext cx="10515600" cy="692572"/>
          </a:xfrm>
        </p:spPr>
        <p:txBody>
          <a:bodyPr>
            <a:normAutofit/>
          </a:bodyPr>
          <a:lstStyle/>
          <a:p>
            <a:r>
              <a:rPr lang="en-US" sz="3600" b="1" dirty="0"/>
              <a:t>Main Factors and other variables</a:t>
            </a:r>
            <a:endParaRPr lang="bn-BD" sz="3600" b="1" dirty="0"/>
          </a:p>
        </p:txBody>
      </p:sp>
      <p:graphicFrame>
        <p:nvGraphicFramePr>
          <p:cNvPr id="25" name="Table 4">
            <a:extLst>
              <a:ext uri="{FF2B5EF4-FFF2-40B4-BE49-F238E27FC236}">
                <a16:creationId xmlns:a16="http://schemas.microsoft.com/office/drawing/2014/main" id="{58CD2AE0-3996-4061-86D3-FE44355410E5}"/>
              </a:ext>
            </a:extLst>
          </p:cNvPr>
          <p:cNvGraphicFramePr>
            <a:graphicFrameLocks noGrp="1"/>
          </p:cNvGraphicFramePr>
          <p:nvPr>
            <p:ph idx="1"/>
            <p:extLst>
              <p:ext uri="{D42A27DB-BD31-4B8C-83A1-F6EECF244321}">
                <p14:modId xmlns:p14="http://schemas.microsoft.com/office/powerpoint/2010/main" val="3998190365"/>
              </p:ext>
            </p:extLst>
          </p:nvPr>
        </p:nvGraphicFramePr>
        <p:xfrm>
          <a:off x="777047" y="2542257"/>
          <a:ext cx="4470282" cy="3790410"/>
        </p:xfrm>
        <a:graphic>
          <a:graphicData uri="http://schemas.openxmlformats.org/drawingml/2006/table">
            <a:tbl>
              <a:tblPr firstRow="1" bandRow="1">
                <a:tableStyleId>{69012ECD-51FC-41F1-AA8D-1B2483CD663E}</a:tableStyleId>
              </a:tblPr>
              <a:tblGrid>
                <a:gridCol w="1312757">
                  <a:extLst>
                    <a:ext uri="{9D8B030D-6E8A-4147-A177-3AD203B41FA5}">
                      <a16:colId xmlns:a16="http://schemas.microsoft.com/office/drawing/2014/main" val="4017764965"/>
                    </a:ext>
                  </a:extLst>
                </a:gridCol>
                <a:gridCol w="1668483">
                  <a:extLst>
                    <a:ext uri="{9D8B030D-6E8A-4147-A177-3AD203B41FA5}">
                      <a16:colId xmlns:a16="http://schemas.microsoft.com/office/drawing/2014/main" val="1128103663"/>
                    </a:ext>
                  </a:extLst>
                </a:gridCol>
                <a:gridCol w="1489042">
                  <a:extLst>
                    <a:ext uri="{9D8B030D-6E8A-4147-A177-3AD203B41FA5}">
                      <a16:colId xmlns:a16="http://schemas.microsoft.com/office/drawing/2014/main" val="527695142"/>
                    </a:ext>
                  </a:extLst>
                </a:gridCol>
              </a:tblGrid>
              <a:tr h="280410">
                <a:tc>
                  <a:txBody>
                    <a:bodyPr/>
                    <a:lstStyle/>
                    <a:p>
                      <a:pPr algn="l"/>
                      <a:r>
                        <a:rPr lang="en-US" sz="1400"/>
                        <a:t>Factors</a:t>
                      </a:r>
                      <a:endParaRPr lang="bn-BD" sz="1400"/>
                    </a:p>
                  </a:txBody>
                  <a:tcPr/>
                </a:tc>
                <a:tc>
                  <a:txBody>
                    <a:bodyPr/>
                    <a:lstStyle/>
                    <a:p>
                      <a:pPr algn="l"/>
                      <a:r>
                        <a:rPr lang="en-US" sz="1400"/>
                        <a:t>Level 1 (-1)</a:t>
                      </a:r>
                      <a:endParaRPr lang="bn-BD" sz="1400"/>
                    </a:p>
                  </a:txBody>
                  <a:tcPr/>
                </a:tc>
                <a:tc>
                  <a:txBody>
                    <a:bodyPr/>
                    <a:lstStyle/>
                    <a:p>
                      <a:pPr algn="l"/>
                      <a:r>
                        <a:rPr lang="en-US" sz="1400"/>
                        <a:t>Level 2 (+1)</a:t>
                      </a:r>
                      <a:endParaRPr lang="bn-BD" sz="1400"/>
                    </a:p>
                  </a:txBody>
                  <a:tcPr/>
                </a:tc>
                <a:extLst>
                  <a:ext uri="{0D108BD9-81ED-4DB2-BD59-A6C34878D82A}">
                    <a16:rowId xmlns:a16="http://schemas.microsoft.com/office/drawing/2014/main" val="2340258035"/>
                  </a:ext>
                </a:extLst>
              </a:tr>
              <a:tr h="408215">
                <a:tc>
                  <a:txBody>
                    <a:bodyPr/>
                    <a:lstStyle/>
                    <a:p>
                      <a:r>
                        <a:rPr lang="en-US" sz="1400"/>
                        <a:t>A: Font size</a:t>
                      </a:r>
                      <a:endParaRPr lang="bn-BD" sz="1400" dirty="0"/>
                    </a:p>
                  </a:txBody>
                  <a:tcPr/>
                </a:tc>
                <a:tc>
                  <a:txBody>
                    <a:bodyPr/>
                    <a:lstStyle/>
                    <a:p>
                      <a:r>
                        <a:rPr lang="en-US" sz="1400" dirty="0"/>
                        <a:t>16</a:t>
                      </a:r>
                      <a:endParaRPr lang="bn-BD" sz="1400" dirty="0"/>
                    </a:p>
                  </a:txBody>
                  <a:tcPr/>
                </a:tc>
                <a:tc>
                  <a:txBody>
                    <a:bodyPr/>
                    <a:lstStyle/>
                    <a:p>
                      <a:r>
                        <a:rPr lang="en-US" sz="1400" dirty="0"/>
                        <a:t>18</a:t>
                      </a:r>
                      <a:endParaRPr lang="bn-BD" sz="1400" dirty="0"/>
                    </a:p>
                  </a:txBody>
                  <a:tcPr/>
                </a:tc>
                <a:extLst>
                  <a:ext uri="{0D108BD9-81ED-4DB2-BD59-A6C34878D82A}">
                    <a16:rowId xmlns:a16="http://schemas.microsoft.com/office/drawing/2014/main" val="2974502715"/>
                  </a:ext>
                </a:extLst>
              </a:tr>
              <a:tr h="408215">
                <a:tc>
                  <a:txBody>
                    <a:bodyPr/>
                    <a:lstStyle/>
                    <a:p>
                      <a:r>
                        <a:rPr lang="en-US" sz="1400"/>
                        <a:t>B: Font color</a:t>
                      </a:r>
                      <a:endParaRPr lang="en-US" sz="1400" dirty="0"/>
                    </a:p>
                  </a:txBody>
                  <a:tcPr/>
                </a:tc>
                <a:tc>
                  <a:txBody>
                    <a:bodyPr/>
                    <a:lstStyle/>
                    <a:p>
                      <a:r>
                        <a:rPr lang="en-US" sz="1400" dirty="0"/>
                        <a:t>Black</a:t>
                      </a:r>
                      <a:endParaRPr lang="bn-BD" sz="1400" dirty="0"/>
                    </a:p>
                  </a:txBody>
                  <a:tcPr/>
                </a:tc>
                <a:tc>
                  <a:txBody>
                    <a:bodyPr/>
                    <a:lstStyle/>
                    <a:p>
                      <a:r>
                        <a:rPr lang="en-US" sz="1400" dirty="0"/>
                        <a:t>White</a:t>
                      </a:r>
                      <a:endParaRPr lang="bn-BD" sz="1400" dirty="0"/>
                    </a:p>
                  </a:txBody>
                  <a:tcPr/>
                </a:tc>
                <a:extLst>
                  <a:ext uri="{0D108BD9-81ED-4DB2-BD59-A6C34878D82A}">
                    <a16:rowId xmlns:a16="http://schemas.microsoft.com/office/drawing/2014/main" val="151784074"/>
                  </a:ext>
                </a:extLst>
              </a:tr>
              <a:tr h="408215">
                <a:tc>
                  <a:txBody>
                    <a:bodyPr/>
                    <a:lstStyle/>
                    <a:p>
                      <a:r>
                        <a:rPr lang="en-US" sz="1400"/>
                        <a:t>C: Letter case</a:t>
                      </a:r>
                      <a:endParaRPr lang="bn-BD" sz="1400" dirty="0"/>
                    </a:p>
                  </a:txBody>
                  <a:tcPr/>
                </a:tc>
                <a:tc>
                  <a:txBody>
                    <a:bodyPr/>
                    <a:lstStyle/>
                    <a:p>
                      <a:r>
                        <a:rPr lang="en-US" sz="1400" dirty="0"/>
                        <a:t>Uppercase letters</a:t>
                      </a:r>
                      <a:endParaRPr lang="bn-BD" sz="1400" dirty="0"/>
                    </a:p>
                  </a:txBody>
                  <a:tcPr/>
                </a:tc>
                <a:tc>
                  <a:txBody>
                    <a:bodyPr/>
                    <a:lstStyle/>
                    <a:p>
                      <a:r>
                        <a:rPr lang="en-US" sz="1400"/>
                        <a:t>Lowercase letters</a:t>
                      </a:r>
                      <a:endParaRPr lang="bn-BD" sz="1400"/>
                    </a:p>
                  </a:txBody>
                  <a:tcPr/>
                </a:tc>
                <a:extLst>
                  <a:ext uri="{0D108BD9-81ED-4DB2-BD59-A6C34878D82A}">
                    <a16:rowId xmlns:a16="http://schemas.microsoft.com/office/drawing/2014/main" val="167378274"/>
                  </a:ext>
                </a:extLst>
              </a:tr>
              <a:tr h="408215">
                <a:tc>
                  <a:txBody>
                    <a:bodyPr/>
                    <a:lstStyle/>
                    <a:p>
                      <a:r>
                        <a:rPr lang="en-US" sz="1400"/>
                        <a:t>D: Font style</a:t>
                      </a:r>
                      <a:endParaRPr lang="bn-BD" sz="1400" dirty="0"/>
                    </a:p>
                  </a:txBody>
                  <a:tcPr/>
                </a:tc>
                <a:tc>
                  <a:txBody>
                    <a:bodyPr/>
                    <a:lstStyle/>
                    <a:p>
                      <a:r>
                        <a:rPr lang="en-US" sz="1400" dirty="0"/>
                        <a:t>Normal</a:t>
                      </a:r>
                      <a:endParaRPr lang="bn-BD" sz="1400" dirty="0"/>
                    </a:p>
                  </a:txBody>
                  <a:tcPr/>
                </a:tc>
                <a:tc>
                  <a:txBody>
                    <a:bodyPr/>
                    <a:lstStyle/>
                    <a:p>
                      <a:r>
                        <a:rPr lang="en-US" sz="1400"/>
                        <a:t>Italic</a:t>
                      </a:r>
                      <a:endParaRPr lang="bn-BD" sz="1400"/>
                    </a:p>
                  </a:txBody>
                  <a:tcPr/>
                </a:tc>
                <a:extLst>
                  <a:ext uri="{0D108BD9-81ED-4DB2-BD59-A6C34878D82A}">
                    <a16:rowId xmlns:a16="http://schemas.microsoft.com/office/drawing/2014/main" val="570603264"/>
                  </a:ext>
                </a:extLst>
              </a:tr>
              <a:tr h="408215">
                <a:tc>
                  <a:txBody>
                    <a:bodyPr/>
                    <a:lstStyle/>
                    <a:p>
                      <a:r>
                        <a:rPr lang="en-US" sz="1400"/>
                        <a:t>E: Spacing</a:t>
                      </a:r>
                      <a:endParaRPr lang="bn-BD" sz="1400" dirty="0"/>
                    </a:p>
                  </a:txBody>
                  <a:tcPr/>
                </a:tc>
                <a:tc>
                  <a:txBody>
                    <a:bodyPr/>
                    <a:lstStyle/>
                    <a:p>
                      <a:r>
                        <a:rPr lang="en-US" sz="1400" dirty="0"/>
                        <a:t>Single</a:t>
                      </a:r>
                      <a:endParaRPr lang="bn-BD" sz="1400" dirty="0"/>
                    </a:p>
                  </a:txBody>
                  <a:tcPr/>
                </a:tc>
                <a:tc>
                  <a:txBody>
                    <a:bodyPr/>
                    <a:lstStyle/>
                    <a:p>
                      <a:r>
                        <a:rPr lang="en-US" sz="1400" dirty="0"/>
                        <a:t>Double</a:t>
                      </a:r>
                      <a:endParaRPr lang="bn-BD" sz="1400" dirty="0"/>
                    </a:p>
                  </a:txBody>
                  <a:tcPr/>
                </a:tc>
                <a:extLst>
                  <a:ext uri="{0D108BD9-81ED-4DB2-BD59-A6C34878D82A}">
                    <a16:rowId xmlns:a16="http://schemas.microsoft.com/office/drawing/2014/main" val="2540054080"/>
                  </a:ext>
                </a:extLst>
              </a:tr>
              <a:tr h="4082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F: Background</a:t>
                      </a:r>
                      <a:endParaRPr lang="bn-BD" sz="1400" dirty="0"/>
                    </a:p>
                  </a:txBody>
                  <a:tcPr/>
                </a:tc>
                <a:tc>
                  <a:txBody>
                    <a:bodyPr/>
                    <a:lstStyle/>
                    <a:p>
                      <a:r>
                        <a:rPr lang="en-US" sz="1400"/>
                        <a:t>Green (color model: RGB; Green 208)</a:t>
                      </a:r>
                      <a:endParaRPr lang="bn-BD" sz="1400"/>
                    </a:p>
                  </a:txBody>
                  <a:tcPr/>
                </a:tc>
                <a:tc>
                  <a:txBody>
                    <a:bodyPr/>
                    <a:lstStyle/>
                    <a:p>
                      <a:r>
                        <a:rPr lang="en-US" sz="1400" dirty="0"/>
                        <a:t>Red (color model: RGB; Red 255)</a:t>
                      </a:r>
                      <a:endParaRPr lang="bn-BD" sz="1400" dirty="0"/>
                    </a:p>
                  </a:txBody>
                  <a:tcPr/>
                </a:tc>
                <a:extLst>
                  <a:ext uri="{0D108BD9-81ED-4DB2-BD59-A6C34878D82A}">
                    <a16:rowId xmlns:a16="http://schemas.microsoft.com/office/drawing/2014/main" val="998292841"/>
                  </a:ext>
                </a:extLst>
              </a:tr>
              <a:tr h="408215">
                <a:tc>
                  <a:txBody>
                    <a:bodyPr/>
                    <a:lstStyle/>
                    <a:p>
                      <a:pPr marL="0" marR="0" lvl="0" indent="0" algn="l" rtl="0" eaLnBrk="1" fontAlgn="auto" latinLnBrk="0" hangingPunct="1">
                        <a:lnSpc>
                          <a:spcPct val="100000"/>
                        </a:lnSpc>
                        <a:spcBef>
                          <a:spcPts val="0"/>
                        </a:spcBef>
                        <a:spcAft>
                          <a:spcPts val="0"/>
                        </a:spcAft>
                        <a:buClrTx/>
                        <a:buSzTx/>
                        <a:buFontTx/>
                        <a:buNone/>
                      </a:pPr>
                      <a:r>
                        <a:rPr lang="en-US" sz="1400"/>
                        <a:t>G: Orientation (Text Direction)</a:t>
                      </a:r>
                      <a:endParaRPr lang="bn-BD" sz="1400" dirty="0"/>
                    </a:p>
                  </a:txBody>
                  <a:tcPr/>
                </a:tc>
                <a:tc>
                  <a:txBody>
                    <a:bodyPr/>
                    <a:lstStyle/>
                    <a:p>
                      <a:r>
                        <a:rPr lang="en-US" sz="1400" dirty="0"/>
                        <a:t>Horizontal</a:t>
                      </a:r>
                      <a:endParaRPr lang="bn-BD" sz="1400" dirty="0"/>
                    </a:p>
                  </a:txBody>
                  <a:tcPr/>
                </a:tc>
                <a:tc>
                  <a:txBody>
                    <a:bodyPr/>
                    <a:lstStyle/>
                    <a:p>
                      <a:r>
                        <a:rPr lang="en-US" sz="1400"/>
                        <a:t>Vertical (270</a:t>
                      </a:r>
                      <a:r>
                        <a:rPr lang="en-US" sz="1400" kern="1200">
                          <a:effectLst/>
                        </a:rPr>
                        <a:t>°)</a:t>
                      </a:r>
                      <a:endParaRPr lang="bn-BD" sz="1400" dirty="0"/>
                    </a:p>
                  </a:txBody>
                  <a:tcPr/>
                </a:tc>
                <a:extLst>
                  <a:ext uri="{0D108BD9-81ED-4DB2-BD59-A6C34878D82A}">
                    <a16:rowId xmlns:a16="http://schemas.microsoft.com/office/drawing/2014/main" val="3098266306"/>
                  </a:ext>
                </a:extLst>
              </a:tr>
              <a:tr h="408215">
                <a:tc>
                  <a:txBody>
                    <a:bodyPr/>
                    <a:lstStyle/>
                    <a:p>
                      <a:r>
                        <a:rPr lang="en-US" sz="1400"/>
                        <a:t>H: Font type</a:t>
                      </a:r>
                      <a:endParaRPr lang="bn-BD" sz="1400" dirty="0"/>
                    </a:p>
                  </a:txBody>
                  <a:tcPr/>
                </a:tc>
                <a:tc>
                  <a:txBody>
                    <a:bodyPr/>
                    <a:lstStyle/>
                    <a:p>
                      <a:r>
                        <a:rPr lang="en-US" sz="1400"/>
                        <a:t>Arial</a:t>
                      </a:r>
                      <a:endParaRPr lang="bn-BD" sz="1400"/>
                    </a:p>
                  </a:txBody>
                  <a:tcPr/>
                </a:tc>
                <a:tc>
                  <a:txBody>
                    <a:bodyPr/>
                    <a:lstStyle/>
                    <a:p>
                      <a:r>
                        <a:rPr lang="en-US" sz="1400" dirty="0"/>
                        <a:t>Courier New</a:t>
                      </a:r>
                      <a:endParaRPr lang="bn-BD" sz="1400" dirty="0"/>
                    </a:p>
                  </a:txBody>
                  <a:tcPr/>
                </a:tc>
                <a:extLst>
                  <a:ext uri="{0D108BD9-81ED-4DB2-BD59-A6C34878D82A}">
                    <a16:rowId xmlns:a16="http://schemas.microsoft.com/office/drawing/2014/main" val="1442439924"/>
                  </a:ext>
                </a:extLst>
              </a:tr>
            </a:tbl>
          </a:graphicData>
        </a:graphic>
      </p:graphicFrame>
      <p:sp>
        <p:nvSpPr>
          <p:cNvPr id="26" name="TextBox 25">
            <a:extLst>
              <a:ext uri="{FF2B5EF4-FFF2-40B4-BE49-F238E27FC236}">
                <a16:creationId xmlns:a16="http://schemas.microsoft.com/office/drawing/2014/main" id="{22009EF5-6B95-48D9-B7C7-DABC9F1C1C84}"/>
              </a:ext>
            </a:extLst>
          </p:cNvPr>
          <p:cNvSpPr txBox="1"/>
          <p:nvPr/>
        </p:nvSpPr>
        <p:spPr>
          <a:xfrm>
            <a:off x="777047" y="1279620"/>
            <a:ext cx="4470282" cy="1261884"/>
          </a:xfrm>
          <a:prstGeom prst="rect">
            <a:avLst/>
          </a:prstGeom>
          <a:noFill/>
        </p:spPr>
        <p:txBody>
          <a:bodyPr wrap="square" lIns="91440" tIns="45720" rIns="91440" bIns="45720" rtlCol="0" anchor="t">
            <a:spAutoFit/>
          </a:bodyPr>
          <a:lstStyle/>
          <a:p>
            <a:pPr algn="just"/>
            <a:r>
              <a:rPr lang="en-US" sz="1600" b="1" dirty="0"/>
              <a:t>Main Variables</a:t>
            </a:r>
            <a:r>
              <a:rPr lang="en-US" sz="1600" dirty="0"/>
              <a:t>: the factors below are considered to have influence on the response variables, varied at two levels.</a:t>
            </a:r>
          </a:p>
          <a:p>
            <a:pPr marL="342900" indent="-342900" algn="just">
              <a:buFont typeface="Arial" panose="020B0604020202020204" pitchFamily="34" charset="0"/>
              <a:buChar char="•"/>
            </a:pPr>
            <a:r>
              <a:rPr lang="en-US" sz="1400" dirty="0"/>
              <a:t>Initially it was suspected that Factors A, E, G will have a significant effect on the response variables.</a:t>
            </a:r>
          </a:p>
        </p:txBody>
      </p:sp>
      <p:sp>
        <p:nvSpPr>
          <p:cNvPr id="2" name="Slide Number Placeholder 1">
            <a:extLst>
              <a:ext uri="{FF2B5EF4-FFF2-40B4-BE49-F238E27FC236}">
                <a16:creationId xmlns:a16="http://schemas.microsoft.com/office/drawing/2014/main" id="{A50CC556-0E4F-241A-1145-85DA6E753D49}"/>
              </a:ext>
            </a:extLst>
          </p:cNvPr>
          <p:cNvSpPr>
            <a:spLocks noGrp="1"/>
          </p:cNvSpPr>
          <p:nvPr>
            <p:ph type="sldNum" sz="quarter" idx="12"/>
          </p:nvPr>
        </p:nvSpPr>
        <p:spPr/>
        <p:txBody>
          <a:bodyPr/>
          <a:lstStyle/>
          <a:p>
            <a:fld id="{399003F6-1962-4C57-BCBA-8B61979D0865}" type="slidenum">
              <a:rPr lang="bn-BD" smtClean="0"/>
              <a:t>4</a:t>
            </a:fld>
            <a:endParaRPr lang="en-US" dirty="0"/>
          </a:p>
        </p:txBody>
      </p:sp>
      <p:sp>
        <p:nvSpPr>
          <p:cNvPr id="3" name="TextBox 2">
            <a:extLst>
              <a:ext uri="{FF2B5EF4-FFF2-40B4-BE49-F238E27FC236}">
                <a16:creationId xmlns:a16="http://schemas.microsoft.com/office/drawing/2014/main" id="{ED9D5E48-0263-715B-81A4-B37FD2BA7DAA}"/>
              </a:ext>
            </a:extLst>
          </p:cNvPr>
          <p:cNvSpPr txBox="1"/>
          <p:nvPr/>
        </p:nvSpPr>
        <p:spPr>
          <a:xfrm>
            <a:off x="6071697" y="823275"/>
            <a:ext cx="4126461" cy="338554"/>
          </a:xfrm>
          <a:prstGeom prst="rect">
            <a:avLst/>
          </a:prstGeom>
          <a:noFill/>
        </p:spPr>
        <p:txBody>
          <a:bodyPr wrap="square" rtlCol="0">
            <a:spAutoFit/>
          </a:bodyPr>
          <a:lstStyle/>
          <a:p>
            <a:pPr algn="just"/>
            <a:r>
              <a:rPr lang="en-US" sz="1600" b="1" dirty="0"/>
              <a:t>Control Variables and how will be controlled:</a:t>
            </a:r>
          </a:p>
        </p:txBody>
      </p:sp>
      <p:graphicFrame>
        <p:nvGraphicFramePr>
          <p:cNvPr id="4" name="Table 13">
            <a:extLst>
              <a:ext uri="{FF2B5EF4-FFF2-40B4-BE49-F238E27FC236}">
                <a16:creationId xmlns:a16="http://schemas.microsoft.com/office/drawing/2014/main" id="{B43E8720-703C-7549-D184-A2D5A78B74D5}"/>
              </a:ext>
            </a:extLst>
          </p:cNvPr>
          <p:cNvGraphicFramePr>
            <a:graphicFrameLocks noGrp="1"/>
          </p:cNvGraphicFramePr>
          <p:nvPr>
            <p:extLst>
              <p:ext uri="{D42A27DB-BD31-4B8C-83A1-F6EECF244321}">
                <p14:modId xmlns:p14="http://schemas.microsoft.com/office/powerpoint/2010/main" val="328321470"/>
              </p:ext>
            </p:extLst>
          </p:nvPr>
        </p:nvGraphicFramePr>
        <p:xfrm>
          <a:off x="6121939" y="1131004"/>
          <a:ext cx="4933164" cy="4248300"/>
        </p:xfrm>
        <a:graphic>
          <a:graphicData uri="http://schemas.openxmlformats.org/drawingml/2006/table">
            <a:tbl>
              <a:tblPr firstRow="1" bandRow="1">
                <a:tableStyleId>{69012ECD-51FC-41F1-AA8D-1B2483CD663E}</a:tableStyleId>
              </a:tblPr>
              <a:tblGrid>
                <a:gridCol w="2473743">
                  <a:extLst>
                    <a:ext uri="{9D8B030D-6E8A-4147-A177-3AD203B41FA5}">
                      <a16:colId xmlns:a16="http://schemas.microsoft.com/office/drawing/2014/main" val="120806548"/>
                    </a:ext>
                  </a:extLst>
                </a:gridCol>
                <a:gridCol w="2459421">
                  <a:extLst>
                    <a:ext uri="{9D8B030D-6E8A-4147-A177-3AD203B41FA5}">
                      <a16:colId xmlns:a16="http://schemas.microsoft.com/office/drawing/2014/main" val="3498673595"/>
                    </a:ext>
                  </a:extLst>
                </a:gridCol>
              </a:tblGrid>
              <a:tr h="225659">
                <a:tc>
                  <a:txBody>
                    <a:bodyPr/>
                    <a:lstStyle/>
                    <a:p>
                      <a:r>
                        <a:rPr lang="en-US" sz="1400" dirty="0"/>
                        <a:t>Factors</a:t>
                      </a:r>
                      <a:endParaRPr lang="bn-BD" sz="1400" dirty="0"/>
                    </a:p>
                  </a:txBody>
                  <a:tcPr/>
                </a:tc>
                <a:tc>
                  <a:txBody>
                    <a:bodyPr/>
                    <a:lstStyle/>
                    <a:p>
                      <a:r>
                        <a:rPr lang="en-US" sz="1400" dirty="0"/>
                        <a:t>Control Scheme</a:t>
                      </a:r>
                      <a:endParaRPr lang="bn-BD" sz="1400" dirty="0"/>
                    </a:p>
                  </a:txBody>
                  <a:tcPr/>
                </a:tc>
                <a:extLst>
                  <a:ext uri="{0D108BD9-81ED-4DB2-BD59-A6C34878D82A}">
                    <a16:rowId xmlns:a16="http://schemas.microsoft.com/office/drawing/2014/main" val="1365184016"/>
                  </a:ext>
                </a:extLst>
              </a:tr>
              <a:tr h="316380">
                <a:tc>
                  <a:txBody>
                    <a:bodyPr/>
                    <a:lstStyle/>
                    <a:p>
                      <a:r>
                        <a:rPr lang="en-US" sz="1400" dirty="0"/>
                        <a:t>Distance from poster to reader </a:t>
                      </a:r>
                      <a:endParaRPr lang="bn-BD"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Kept constant to 5 ft</a:t>
                      </a:r>
                    </a:p>
                  </a:txBody>
                  <a:tcPr/>
                </a:tc>
                <a:extLst>
                  <a:ext uri="{0D108BD9-81ED-4DB2-BD59-A6C34878D82A}">
                    <a16:rowId xmlns:a16="http://schemas.microsoft.com/office/drawing/2014/main" val="1205565133"/>
                  </a:ext>
                </a:extLst>
              </a:tr>
              <a:tr h="718207">
                <a:tc>
                  <a:txBody>
                    <a:bodyPr/>
                    <a:lstStyle/>
                    <a:p>
                      <a:r>
                        <a:rPr lang="en-US" sz="1400" dirty="0"/>
                        <a:t>Environmental lighting</a:t>
                      </a:r>
                      <a:endParaRPr lang="bn-BD" sz="1400" dirty="0"/>
                    </a:p>
                  </a:txBody>
                  <a:tcPr/>
                </a:tc>
                <a:tc>
                  <a:txBody>
                    <a:bodyPr/>
                    <a:lstStyle/>
                    <a:p>
                      <a:r>
                        <a:rPr lang="en-US" sz="1400" dirty="0"/>
                        <a:t>Conducting the experiment indoors in the same room (private meeting room)</a:t>
                      </a:r>
                      <a:endParaRPr lang="bn-BD" sz="1400" dirty="0"/>
                    </a:p>
                  </a:txBody>
                  <a:tcPr/>
                </a:tc>
                <a:extLst>
                  <a:ext uri="{0D108BD9-81ED-4DB2-BD59-A6C34878D82A}">
                    <a16:rowId xmlns:a16="http://schemas.microsoft.com/office/drawing/2014/main" val="1141705236"/>
                  </a:ext>
                </a:extLst>
              </a:tr>
              <a:tr h="508730">
                <a:tc>
                  <a:txBody>
                    <a:bodyPr/>
                    <a:lstStyle/>
                    <a:p>
                      <a:r>
                        <a:rPr lang="en-US" sz="1400" dirty="0"/>
                        <a:t>Words in each poster</a:t>
                      </a:r>
                      <a:endParaRPr lang="bn-BD" sz="1400" dirty="0"/>
                    </a:p>
                  </a:txBody>
                  <a:tcPr/>
                </a:tc>
                <a:tc>
                  <a:txBody>
                    <a:bodyPr/>
                    <a:lstStyle/>
                    <a:p>
                      <a:r>
                        <a:rPr lang="en-US" sz="1400" dirty="0"/>
                        <a:t>Same English words in different order for each treatment</a:t>
                      </a:r>
                      <a:endParaRPr lang="bn-BD" sz="1400" dirty="0"/>
                    </a:p>
                  </a:txBody>
                  <a:tcPr/>
                </a:tc>
                <a:extLst>
                  <a:ext uri="{0D108BD9-81ED-4DB2-BD59-A6C34878D82A}">
                    <a16:rowId xmlns:a16="http://schemas.microsoft.com/office/drawing/2014/main" val="1123317929"/>
                  </a:ext>
                </a:extLst>
              </a:tr>
              <a:tr h="282747">
                <a:tc>
                  <a:txBody>
                    <a:bodyPr/>
                    <a:lstStyle/>
                    <a:p>
                      <a:r>
                        <a:rPr lang="en-US" sz="1400"/>
                        <a:t>Education level of readers</a:t>
                      </a:r>
                      <a:endParaRPr lang="bn-BD" sz="1400"/>
                    </a:p>
                  </a:txBody>
                  <a:tcPr/>
                </a:tc>
                <a:tc>
                  <a:txBody>
                    <a:bodyPr/>
                    <a:lstStyle/>
                    <a:p>
                      <a:r>
                        <a:rPr lang="en-US" sz="1400" dirty="0"/>
                        <a:t>Graduate Level</a:t>
                      </a:r>
                      <a:endParaRPr lang="bn-BD" sz="1400" dirty="0"/>
                    </a:p>
                  </a:txBody>
                  <a:tcPr/>
                </a:tc>
                <a:extLst>
                  <a:ext uri="{0D108BD9-81ED-4DB2-BD59-A6C34878D82A}">
                    <a16:rowId xmlns:a16="http://schemas.microsoft.com/office/drawing/2014/main" val="2035612082"/>
                  </a:ext>
                </a:extLst>
              </a:tr>
              <a:tr h="508730">
                <a:tc>
                  <a:txBody>
                    <a:bodyPr/>
                    <a:lstStyle/>
                    <a:p>
                      <a:r>
                        <a:rPr lang="en-US" sz="1400" dirty="0"/>
                        <a:t>Height of the poster from the floor</a:t>
                      </a:r>
                      <a:endParaRPr lang="bn-BD" sz="1400" dirty="0"/>
                    </a:p>
                  </a:txBody>
                  <a:tcPr/>
                </a:tc>
                <a:tc>
                  <a:txBody>
                    <a:bodyPr/>
                    <a:lstStyle/>
                    <a:p>
                      <a:r>
                        <a:rPr lang="en-US" sz="1400" dirty="0"/>
                        <a:t>Kept at readers’ eyes level</a:t>
                      </a:r>
                      <a:endParaRPr lang="bn-BD" sz="1400" dirty="0"/>
                    </a:p>
                  </a:txBody>
                  <a:tcPr/>
                </a:tc>
                <a:extLst>
                  <a:ext uri="{0D108BD9-81ED-4DB2-BD59-A6C34878D82A}">
                    <a16:rowId xmlns:a16="http://schemas.microsoft.com/office/drawing/2014/main" val="1512694971"/>
                  </a:ext>
                </a:extLst>
              </a:tr>
              <a:tr h="508730">
                <a:tc>
                  <a:txBody>
                    <a:bodyPr/>
                    <a:lstStyle/>
                    <a:p>
                      <a:r>
                        <a:rPr lang="en-US" sz="1400" dirty="0"/>
                        <a:t>Physical dimension of posters</a:t>
                      </a:r>
                      <a:endParaRPr lang="bn-BD" sz="1400" dirty="0"/>
                    </a:p>
                  </a:txBody>
                  <a:tcPr/>
                </a:tc>
                <a:tc>
                  <a:txBody>
                    <a:bodyPr/>
                    <a:lstStyle/>
                    <a:p>
                      <a:r>
                        <a:rPr lang="en-US" sz="1400" dirty="0"/>
                        <a:t>Letter size (8.5"x11") posters in a landscape orientation</a:t>
                      </a:r>
                      <a:endParaRPr lang="bn-BD" sz="1400" dirty="0"/>
                    </a:p>
                  </a:txBody>
                  <a:tcPr/>
                </a:tc>
                <a:extLst>
                  <a:ext uri="{0D108BD9-81ED-4DB2-BD59-A6C34878D82A}">
                    <a16:rowId xmlns:a16="http://schemas.microsoft.com/office/drawing/2014/main" val="928800097"/>
                  </a:ext>
                </a:extLst>
              </a:tr>
              <a:tr h="244910">
                <a:tc>
                  <a:txBody>
                    <a:bodyPr/>
                    <a:lstStyle/>
                    <a:p>
                      <a:r>
                        <a:rPr lang="en-US" sz="1400" dirty="0"/>
                        <a:t>Indications and timing</a:t>
                      </a:r>
                      <a:endParaRPr lang="bn-BD" sz="1400" dirty="0"/>
                    </a:p>
                  </a:txBody>
                  <a:tcPr/>
                </a:tc>
                <a:tc>
                  <a:txBody>
                    <a:bodyPr/>
                    <a:lstStyle/>
                    <a:p>
                      <a:r>
                        <a:rPr lang="en-US" sz="1400" dirty="0"/>
                        <a:t>Done by the same person</a:t>
                      </a:r>
                      <a:endParaRPr lang="bn-BD" sz="1400" dirty="0"/>
                    </a:p>
                  </a:txBody>
                  <a:tcPr/>
                </a:tc>
                <a:extLst>
                  <a:ext uri="{0D108BD9-81ED-4DB2-BD59-A6C34878D82A}">
                    <a16:rowId xmlns:a16="http://schemas.microsoft.com/office/drawing/2014/main" val="2840463811"/>
                  </a:ext>
                </a:extLst>
              </a:tr>
              <a:tr h="244910">
                <a:tc>
                  <a:txBody>
                    <a:bodyPr/>
                    <a:lstStyle/>
                    <a:p>
                      <a:r>
                        <a:rPr lang="en-US" sz="1400" dirty="0"/>
                        <a:t>Readers’ vision</a:t>
                      </a:r>
                      <a:endParaRPr lang="bn-BD" sz="1400" dirty="0"/>
                    </a:p>
                  </a:txBody>
                  <a:tcPr/>
                </a:tc>
                <a:tc>
                  <a:txBody>
                    <a:bodyPr/>
                    <a:lstStyle/>
                    <a:p>
                      <a:r>
                        <a:rPr lang="en-US" sz="1400" dirty="0"/>
                        <a:t>Only readers who wears glasses and have  the appropriate vision prescription</a:t>
                      </a:r>
                      <a:endParaRPr lang="bn-BD" sz="1400" dirty="0"/>
                    </a:p>
                  </a:txBody>
                  <a:tcPr/>
                </a:tc>
                <a:extLst>
                  <a:ext uri="{0D108BD9-81ED-4DB2-BD59-A6C34878D82A}">
                    <a16:rowId xmlns:a16="http://schemas.microsoft.com/office/drawing/2014/main" val="3833173611"/>
                  </a:ext>
                </a:extLst>
              </a:tr>
            </a:tbl>
          </a:graphicData>
        </a:graphic>
      </p:graphicFrame>
      <p:sp>
        <p:nvSpPr>
          <p:cNvPr id="5" name="TextBox 4">
            <a:extLst>
              <a:ext uri="{FF2B5EF4-FFF2-40B4-BE49-F238E27FC236}">
                <a16:creationId xmlns:a16="http://schemas.microsoft.com/office/drawing/2014/main" id="{44EF004C-4A75-A387-66C9-F57CAB10AA4A}"/>
              </a:ext>
            </a:extLst>
          </p:cNvPr>
          <p:cNvSpPr txBox="1"/>
          <p:nvPr/>
        </p:nvSpPr>
        <p:spPr>
          <a:xfrm>
            <a:off x="6071697" y="5442748"/>
            <a:ext cx="4721283" cy="338554"/>
          </a:xfrm>
          <a:prstGeom prst="rect">
            <a:avLst/>
          </a:prstGeom>
          <a:noFill/>
        </p:spPr>
        <p:txBody>
          <a:bodyPr wrap="square" rtlCol="0">
            <a:spAutoFit/>
          </a:bodyPr>
          <a:lstStyle/>
          <a:p>
            <a:pPr algn="just"/>
            <a:r>
              <a:rPr lang="en-US" sz="1600" b="1" dirty="0"/>
              <a:t>Nuisance Variable:</a:t>
            </a:r>
            <a:r>
              <a:rPr lang="en-US" sz="1600" dirty="0"/>
              <a:t> </a:t>
            </a:r>
          </a:p>
        </p:txBody>
      </p:sp>
      <p:graphicFrame>
        <p:nvGraphicFramePr>
          <p:cNvPr id="6" name="Table 13">
            <a:extLst>
              <a:ext uri="{FF2B5EF4-FFF2-40B4-BE49-F238E27FC236}">
                <a16:creationId xmlns:a16="http://schemas.microsoft.com/office/drawing/2014/main" id="{B3C0FB42-704A-4DB3-E097-6E07934985F1}"/>
              </a:ext>
            </a:extLst>
          </p:cNvPr>
          <p:cNvGraphicFramePr>
            <a:graphicFrameLocks noGrp="1"/>
          </p:cNvGraphicFramePr>
          <p:nvPr>
            <p:extLst>
              <p:ext uri="{D42A27DB-BD31-4B8C-83A1-F6EECF244321}">
                <p14:modId xmlns:p14="http://schemas.microsoft.com/office/powerpoint/2010/main" val="1473321289"/>
              </p:ext>
            </p:extLst>
          </p:nvPr>
        </p:nvGraphicFramePr>
        <p:xfrm>
          <a:off x="6121938" y="5738490"/>
          <a:ext cx="4928096" cy="822960"/>
        </p:xfrm>
        <a:graphic>
          <a:graphicData uri="http://schemas.openxmlformats.org/drawingml/2006/table">
            <a:tbl>
              <a:tblPr firstRow="1" bandRow="1">
                <a:tableStyleId>{69012ECD-51FC-41F1-AA8D-1B2483CD663E}</a:tableStyleId>
              </a:tblPr>
              <a:tblGrid>
                <a:gridCol w="1790572">
                  <a:extLst>
                    <a:ext uri="{9D8B030D-6E8A-4147-A177-3AD203B41FA5}">
                      <a16:colId xmlns:a16="http://schemas.microsoft.com/office/drawing/2014/main" val="120806548"/>
                    </a:ext>
                  </a:extLst>
                </a:gridCol>
                <a:gridCol w="3137524">
                  <a:extLst>
                    <a:ext uri="{9D8B030D-6E8A-4147-A177-3AD203B41FA5}">
                      <a16:colId xmlns:a16="http://schemas.microsoft.com/office/drawing/2014/main" val="3498673595"/>
                    </a:ext>
                  </a:extLst>
                </a:gridCol>
              </a:tblGrid>
              <a:tr h="210954">
                <a:tc>
                  <a:txBody>
                    <a:bodyPr/>
                    <a:lstStyle/>
                    <a:p>
                      <a:pPr algn="l"/>
                      <a:r>
                        <a:rPr lang="en-US" sz="1400" dirty="0"/>
                        <a:t>Factors</a:t>
                      </a:r>
                      <a:endParaRPr lang="bn-BD" sz="1400" dirty="0"/>
                    </a:p>
                  </a:txBody>
                  <a:tcPr/>
                </a:tc>
                <a:tc>
                  <a:txBody>
                    <a:bodyPr/>
                    <a:lstStyle/>
                    <a:p>
                      <a:pPr algn="l"/>
                      <a:r>
                        <a:rPr lang="en-US" sz="1400" dirty="0"/>
                        <a:t>Control Scheme</a:t>
                      </a:r>
                      <a:endParaRPr lang="bn-BD" sz="1400" dirty="0"/>
                    </a:p>
                  </a:txBody>
                  <a:tcPr/>
                </a:tc>
                <a:extLst>
                  <a:ext uri="{0D108BD9-81ED-4DB2-BD59-A6C34878D82A}">
                    <a16:rowId xmlns:a16="http://schemas.microsoft.com/office/drawing/2014/main" val="1365184016"/>
                  </a:ext>
                </a:extLst>
              </a:tr>
              <a:tr h="354409">
                <a:tc>
                  <a:txBody>
                    <a:bodyPr/>
                    <a:lstStyle/>
                    <a:p>
                      <a:pPr algn="l" rtl="0" eaLnBrk="1" latinLnBrk="0" hangingPunct="1"/>
                      <a:r>
                        <a:rPr lang="en-US" sz="1400" kern="1200" dirty="0">
                          <a:solidFill>
                            <a:schemeClr val="dk1"/>
                          </a:solidFill>
                          <a:effectLst/>
                        </a:rPr>
                        <a:t>Word complexity</a:t>
                      </a:r>
                      <a:endParaRPr lang="bn-BD" sz="1400" dirty="0">
                        <a:effectLst/>
                      </a:endParaRP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kern="1200" dirty="0">
                          <a:solidFill>
                            <a:schemeClr val="dk1"/>
                          </a:solidFill>
                          <a:effectLst/>
                        </a:rPr>
                        <a:t>2 complexities of words taken, based on CEFR levels: A2 and C1*. </a:t>
                      </a:r>
                      <a:endParaRPr lang="en-US" sz="1400" kern="1200" dirty="0">
                        <a:solidFill>
                          <a:schemeClr val="dk1"/>
                        </a:solidFill>
                        <a:effectLst/>
                        <a:latin typeface="+mn-lt"/>
                        <a:ea typeface="+mn-ea"/>
                        <a:cs typeface="+mn-cs"/>
                      </a:endParaRPr>
                    </a:p>
                  </a:txBody>
                  <a:tcPr/>
                </a:tc>
                <a:extLst>
                  <a:ext uri="{0D108BD9-81ED-4DB2-BD59-A6C34878D82A}">
                    <a16:rowId xmlns:a16="http://schemas.microsoft.com/office/drawing/2014/main" val="1205565133"/>
                  </a:ext>
                </a:extLst>
              </a:tr>
            </a:tbl>
          </a:graphicData>
        </a:graphic>
      </p:graphicFrame>
      <p:sp>
        <p:nvSpPr>
          <p:cNvPr id="7" name="TextBox 6">
            <a:extLst>
              <a:ext uri="{FF2B5EF4-FFF2-40B4-BE49-F238E27FC236}">
                <a16:creationId xmlns:a16="http://schemas.microsoft.com/office/drawing/2014/main" id="{6F7149A3-6063-600B-3462-98536506C9CC}"/>
              </a:ext>
            </a:extLst>
          </p:cNvPr>
          <p:cNvSpPr txBox="1"/>
          <p:nvPr/>
        </p:nvSpPr>
        <p:spPr>
          <a:xfrm>
            <a:off x="7913955" y="6539857"/>
            <a:ext cx="291773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dirty="0">
                <a:cs typeface="Calibri"/>
              </a:rPr>
              <a:t>*Source:</a:t>
            </a:r>
            <a:r>
              <a:rPr lang="en-US" sz="1200" dirty="0">
                <a:cs typeface="Calibri"/>
              </a:rPr>
              <a:t> </a:t>
            </a:r>
            <a:r>
              <a:rPr lang="en-US" sz="1200" dirty="0">
                <a:ea typeface="+mn-lt"/>
                <a:cs typeface="+mn-lt"/>
              </a:rPr>
              <a:t>https://</a:t>
            </a:r>
            <a:r>
              <a:rPr lang="en-US" sz="1200" dirty="0" err="1">
                <a:ea typeface="+mn-lt"/>
                <a:cs typeface="+mn-lt"/>
              </a:rPr>
              <a:t>www.cambridgeenglish.org</a:t>
            </a:r>
            <a:endParaRPr lang="en-US" sz="1200" dirty="0">
              <a:cs typeface="Calibri"/>
            </a:endParaRPr>
          </a:p>
        </p:txBody>
      </p:sp>
    </p:spTree>
    <p:extLst>
      <p:ext uri="{BB962C8B-B14F-4D97-AF65-F5344CB8AC3E}">
        <p14:creationId xmlns:p14="http://schemas.microsoft.com/office/powerpoint/2010/main" val="3372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27" name="Rectangle 26">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80F2D8B-568F-4E73-B0AD-D36EE509E09B}"/>
              </a:ext>
            </a:extLst>
          </p:cNvPr>
          <p:cNvSpPr>
            <a:spLocks noGrp="1"/>
          </p:cNvSpPr>
          <p:nvPr>
            <p:ph type="title"/>
          </p:nvPr>
        </p:nvSpPr>
        <p:spPr>
          <a:xfrm>
            <a:off x="970404" y="197922"/>
            <a:ext cx="10905066" cy="1054604"/>
          </a:xfrm>
        </p:spPr>
        <p:txBody>
          <a:bodyPr>
            <a:normAutofit/>
          </a:bodyPr>
          <a:lstStyle/>
          <a:p>
            <a:r>
              <a:rPr lang="en-US" sz="3600" b="1"/>
              <a:t>Design and Experimental Procedure </a:t>
            </a:r>
            <a:endParaRPr lang="bn-BD" sz="3600"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926CDE-6001-41B1-A1B6-C704E8A7316C}"/>
                  </a:ext>
                </a:extLst>
              </p:cNvPr>
              <p:cNvSpPr>
                <a:spLocks noGrp="1"/>
              </p:cNvSpPr>
              <p:nvPr>
                <p:ph idx="1"/>
              </p:nvPr>
            </p:nvSpPr>
            <p:spPr>
              <a:xfrm>
                <a:off x="486354" y="1154962"/>
                <a:ext cx="7214793" cy="5305209"/>
              </a:xfrm>
            </p:spPr>
            <p:txBody>
              <a:bodyPr vert="horz" lIns="91440" tIns="45720" rIns="91440" bIns="45720" rtlCol="0" anchor="t">
                <a:noAutofit/>
              </a:bodyPr>
              <a:lstStyle/>
              <a:p>
                <a:pPr algn="just"/>
                <a:r>
                  <a:rPr lang="en-US" sz="1800" b="1" dirty="0">
                    <a:effectLst/>
                    <a:latin typeface="Calibri"/>
                    <a:ea typeface="Times New Roman" panose="02020603050405020304" pitchFamily="18" charset="0"/>
                    <a:cs typeface="Times New Roman"/>
                  </a:rPr>
                  <a:t>A 2</a:t>
                </a:r>
                <a:r>
                  <a:rPr lang="en-US" sz="1800" b="1" baseline="-25000" dirty="0">
                    <a:effectLst/>
                    <a:latin typeface="Calibri"/>
                    <a:ea typeface="Times New Roman" panose="02020603050405020304" pitchFamily="18" charset="0"/>
                    <a:cs typeface="Times New Roman"/>
                  </a:rPr>
                  <a:t>IV</a:t>
                </a:r>
                <a:r>
                  <a:rPr lang="en-US" sz="1800" b="1" baseline="30000" dirty="0">
                    <a:effectLst/>
                    <a:latin typeface="Calibri"/>
                    <a:ea typeface="Times New Roman" panose="02020603050405020304" pitchFamily="18" charset="0"/>
                    <a:cs typeface="Times New Roman"/>
                  </a:rPr>
                  <a:t>8-3 </a:t>
                </a:r>
                <a:r>
                  <a:rPr lang="en-US" sz="1800" dirty="0"/>
                  <a:t>design with  </a:t>
                </a:r>
                <a:r>
                  <a:rPr lang="en-US" sz="1800" b="1" dirty="0"/>
                  <a:t>two </a:t>
                </a:r>
                <a:r>
                  <a:rPr lang="en-US" sz="1800" dirty="0"/>
                  <a:t>blocks is selected to run this experiment. The design, alias structure and  randomization was generated in R. </a:t>
                </a:r>
              </a:p>
              <a:p>
                <a:pPr lvl="1" algn="just"/>
                <a:r>
                  <a:rPr lang="en-US" sz="1600" dirty="0"/>
                  <a:t>The design generators are </a:t>
                </a:r>
                <a:r>
                  <a:rPr lang="en-US" sz="1600" b="1" i="1" dirty="0"/>
                  <a:t>F = ABC, G = ABD and</a:t>
                </a:r>
                <a:r>
                  <a:rPr lang="en-US" sz="1600" dirty="0"/>
                  <a:t> </a:t>
                </a:r>
                <a:r>
                  <a:rPr lang="en-US" sz="1600" b="1" dirty="0"/>
                  <a:t>H = BCDE </a:t>
                </a:r>
                <a:r>
                  <a:rPr lang="en-US" sz="1600" dirty="0"/>
                  <a:t>(complete defining relation I  = ABCF = ABDG = CDFG = BCDEH = ADEFH = ACEGH = BEFGH).</a:t>
                </a:r>
              </a:p>
              <a:p>
                <a:pPr lvl="2" algn="just"/>
                <a:r>
                  <a:rPr lang="en-US" sz="1200" dirty="0">
                    <a:cs typeface="Calibri"/>
                  </a:rPr>
                  <a:t>This design was chosen so we avoid main effects confounded with 2-factor interactions (see alias structure on Fig.1)</a:t>
                </a:r>
                <a:endParaRPr lang="en-US" sz="1200" b="1" dirty="0">
                  <a:cs typeface="Calibri"/>
                </a:endParaRPr>
              </a:p>
              <a:p>
                <a:pPr lvl="1" algn="just"/>
                <a:r>
                  <a:rPr lang="en-US" sz="1600" dirty="0"/>
                  <a:t>The block generator is [ABE] </a:t>
                </a:r>
                <a:r>
                  <a:rPr lang="en-US" sz="1600" dirty="0">
                    <a:sym typeface="Wingdings" pitchFamily="2" charset="2"/>
                  </a:rPr>
                  <a:t> </a:t>
                </a:r>
                <a:r>
                  <a:rPr lang="en-US" sz="1600" b="1" i="1" dirty="0"/>
                  <a:t>ABE = CEF = DEG</a:t>
                </a:r>
              </a:p>
              <a:p>
                <a:pPr lvl="2" algn="just"/>
                <a:r>
                  <a:rPr lang="en-US" sz="1200" dirty="0"/>
                  <a:t>Based on </a:t>
                </a:r>
                <a:r>
                  <a:rPr lang="en-US" sz="1200" dirty="0" err="1"/>
                  <a:t>Boses’s</a:t>
                </a:r>
                <a:r>
                  <a:rPr lang="en-US" sz="1200" dirty="0"/>
                  <a:t> theorem we decided </a:t>
                </a:r>
                <a:r>
                  <a:rPr lang="en-US" sz="1200" b="1" dirty="0"/>
                  <a:t>only one block generator</a:t>
                </a:r>
                <a:r>
                  <a:rPr lang="en-US" sz="1200" dirty="0"/>
                  <a:t>, because it was possible to find an arrangement </a:t>
                </a:r>
                <a:r>
                  <a:rPr lang="en-US" sz="1200" dirty="0" err="1"/>
                  <a:t>s.t.</a:t>
                </a:r>
                <a:r>
                  <a:rPr lang="en-US" sz="1200" dirty="0"/>
                  <a:t> </a:t>
                </a:r>
                <a:r>
                  <a:rPr lang="en-US" sz="1200" u="sng" dirty="0"/>
                  <a:t>no interaction confounded involving 2 or less factors </a:t>
                </a:r>
                <a:r>
                  <a:rPr lang="en-US" sz="1200" dirty="0"/>
                  <a:t>(</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2</m:t>
                        </m:r>
                      </m:e>
                      <m:sup>
                        <m:r>
                          <a:rPr lang="en-US" sz="1200" b="0" i="1" smtClean="0">
                            <a:latin typeface="Cambria Math" panose="02040503050406030204" pitchFamily="18" charset="0"/>
                          </a:rPr>
                          <m:t>(8−3)−1</m:t>
                        </m:r>
                      </m:sup>
                    </m:sSup>
                    <m:r>
                      <a:rPr lang="en-US" sz="1200" b="0" i="1" smtClean="0">
                        <a:latin typeface="Cambria Math" panose="02040503050406030204" pitchFamily="18" charset="0"/>
                      </a:rPr>
                      <m:t>&gt;8)</m:t>
                    </m:r>
                  </m:oMath>
                </a14:m>
                <a:r>
                  <a:rPr lang="en-US" sz="1200" dirty="0"/>
                  <a:t>. Having 2 blocks generators (4 blocks) would have confound 2-factor interactions.</a:t>
                </a:r>
              </a:p>
              <a:p>
                <a:pPr lvl="1" algn="just"/>
                <a:r>
                  <a:rPr lang="en-US" sz="1600" b="1" i="1" dirty="0">
                    <a:cs typeface="Calibri"/>
                  </a:rPr>
                  <a:t>Total number of runs = 32 (16 for each block)</a:t>
                </a:r>
                <a:endParaRPr lang="en-US" sz="1600" dirty="0">
                  <a:cs typeface="Calibri"/>
                </a:endParaRPr>
              </a:p>
              <a:p>
                <a:pPr algn="just"/>
                <a:endParaRPr lang="en-US" sz="1800" dirty="0"/>
              </a:p>
              <a:p>
                <a:pPr algn="just"/>
                <a:r>
                  <a:rPr lang="en-US" sz="1800" dirty="0"/>
                  <a:t>Each experimental unit was </a:t>
                </a:r>
                <a:r>
                  <a:rPr lang="en-US" sz="1800" b="1" dirty="0"/>
                  <a:t>assigned randomly</a:t>
                </a:r>
                <a:r>
                  <a:rPr lang="en-US" sz="1800" dirty="0"/>
                  <a:t> to a </a:t>
                </a:r>
                <a:r>
                  <a:rPr lang="en-US" sz="1800" b="1" dirty="0"/>
                  <a:t>treatment combination </a:t>
                </a:r>
                <a:r>
                  <a:rPr lang="en-US" sz="1800" dirty="0"/>
                  <a:t>(the randomized run order can be seen on Fig. 2)</a:t>
                </a:r>
                <a:endParaRPr lang="en-US" sz="1800" dirty="0">
                  <a:cs typeface="Calibri"/>
                </a:endParaRPr>
              </a:p>
              <a:p>
                <a:pPr algn="just"/>
                <a:r>
                  <a:rPr lang="en-US" sz="1800" dirty="0"/>
                  <a:t>Each treatment had repeated measurements, meaning that the posters were read by </a:t>
                </a:r>
                <a:r>
                  <a:rPr lang="en-US" sz="1800" b="1" dirty="0"/>
                  <a:t>4 different graduate students.</a:t>
                </a:r>
              </a:p>
              <a:p>
                <a:pPr algn="just"/>
                <a:r>
                  <a:rPr lang="en-US" sz="1800" dirty="0"/>
                  <a:t>After the experiment was run, the mean and standard deviation of the times taken at each treatment combination were computed in a MS Excel file to tabulate into columns as the response's variables.</a:t>
                </a:r>
                <a:endParaRPr lang="en-US" sz="1800" dirty="0">
                  <a:cs typeface="Calibri"/>
                </a:endParaRPr>
              </a:p>
            </p:txBody>
          </p:sp>
        </mc:Choice>
        <mc:Fallback xmlns="">
          <p:sp>
            <p:nvSpPr>
              <p:cNvPr id="3" name="Content Placeholder 2">
                <a:extLst>
                  <a:ext uri="{FF2B5EF4-FFF2-40B4-BE49-F238E27FC236}">
                    <a16:creationId xmlns:a16="http://schemas.microsoft.com/office/drawing/2014/main" id="{04926CDE-6001-41B1-A1B6-C704E8A7316C}"/>
                  </a:ext>
                </a:extLst>
              </p:cNvPr>
              <p:cNvSpPr>
                <a:spLocks noGrp="1" noRot="1" noChangeAspect="1" noMove="1" noResize="1" noEditPoints="1" noAdjustHandles="1" noChangeArrowheads="1" noChangeShapeType="1" noTextEdit="1"/>
              </p:cNvSpPr>
              <p:nvPr>
                <p:ph idx="1"/>
              </p:nvPr>
            </p:nvSpPr>
            <p:spPr>
              <a:xfrm>
                <a:off x="486354" y="1154962"/>
                <a:ext cx="7214793" cy="5305209"/>
              </a:xfrm>
              <a:blipFill>
                <a:blip r:embed="rId2"/>
                <a:stretch>
                  <a:fillRect l="-527" t="-955" r="-703" b="-1909"/>
                </a:stretch>
              </a:blipFill>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31" name="Isosceles Triangle 30">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6" descr="Table&#10;&#10;Description automatically generated">
            <a:extLst>
              <a:ext uri="{FF2B5EF4-FFF2-40B4-BE49-F238E27FC236}">
                <a16:creationId xmlns:a16="http://schemas.microsoft.com/office/drawing/2014/main" id="{4A236460-19C8-B211-66C6-14063E9265AC}"/>
              </a:ext>
            </a:extLst>
          </p:cNvPr>
          <p:cNvPicPr>
            <a:picLocks noChangeAspect="1"/>
          </p:cNvPicPr>
          <p:nvPr/>
        </p:nvPicPr>
        <p:blipFill>
          <a:blip r:embed="rId3"/>
          <a:stretch>
            <a:fillRect/>
          </a:stretch>
        </p:blipFill>
        <p:spPr>
          <a:xfrm>
            <a:off x="8366489" y="2379917"/>
            <a:ext cx="2625443" cy="3673968"/>
          </a:xfrm>
          <a:prstGeom prst="rect">
            <a:avLst/>
          </a:prstGeom>
        </p:spPr>
      </p:pic>
      <p:sp>
        <p:nvSpPr>
          <p:cNvPr id="8" name="TextBox 7">
            <a:extLst>
              <a:ext uri="{FF2B5EF4-FFF2-40B4-BE49-F238E27FC236}">
                <a16:creationId xmlns:a16="http://schemas.microsoft.com/office/drawing/2014/main" id="{79B4231D-8F80-064A-8AEF-444E0E94A4F1}"/>
              </a:ext>
            </a:extLst>
          </p:cNvPr>
          <p:cNvSpPr txBox="1"/>
          <p:nvPr/>
        </p:nvSpPr>
        <p:spPr>
          <a:xfrm>
            <a:off x="8004623" y="6075338"/>
            <a:ext cx="3349177" cy="307777"/>
          </a:xfrm>
          <a:prstGeom prst="rect">
            <a:avLst/>
          </a:prstGeom>
          <a:noFill/>
        </p:spPr>
        <p:txBody>
          <a:bodyPr wrap="square" lIns="91440" tIns="45720" rIns="91440" bIns="45720" rtlCol="0" anchor="t">
            <a:spAutoFit/>
          </a:bodyPr>
          <a:lstStyle/>
          <a:p>
            <a:r>
              <a:rPr lang="en-US" sz="1400" b="1" i="1" dirty="0"/>
              <a:t>Fig 2:</a:t>
            </a:r>
            <a:r>
              <a:rPr lang="en-US" sz="1400" i="1" dirty="0"/>
              <a:t> Randomized Design model (run order)</a:t>
            </a:r>
            <a:endParaRPr lang="bn-BD" sz="1400" i="1" dirty="0"/>
          </a:p>
        </p:txBody>
      </p:sp>
      <p:sp>
        <p:nvSpPr>
          <p:cNvPr id="4" name="Slide Number Placeholder 3">
            <a:extLst>
              <a:ext uri="{FF2B5EF4-FFF2-40B4-BE49-F238E27FC236}">
                <a16:creationId xmlns:a16="http://schemas.microsoft.com/office/drawing/2014/main" id="{2B3EC86D-B669-B9FA-BE27-79AADC3C4321}"/>
              </a:ext>
            </a:extLst>
          </p:cNvPr>
          <p:cNvSpPr>
            <a:spLocks noGrp="1"/>
          </p:cNvSpPr>
          <p:nvPr>
            <p:ph type="sldNum" sz="quarter" idx="12"/>
          </p:nvPr>
        </p:nvSpPr>
        <p:spPr/>
        <p:txBody>
          <a:bodyPr/>
          <a:lstStyle/>
          <a:p>
            <a:fld id="{399003F6-1962-4C57-BCBA-8B61979D0865}" type="slidenum">
              <a:rPr lang="bn-BD" smtClean="0"/>
              <a:t>5</a:t>
            </a:fld>
            <a:endParaRPr lang="en-US"/>
          </a:p>
        </p:txBody>
      </p:sp>
      <p:sp>
        <p:nvSpPr>
          <p:cNvPr id="5" name="TextBox 4">
            <a:extLst>
              <a:ext uri="{FF2B5EF4-FFF2-40B4-BE49-F238E27FC236}">
                <a16:creationId xmlns:a16="http://schemas.microsoft.com/office/drawing/2014/main" id="{A85D919E-A15D-38BC-5B52-C7CE5656ED18}"/>
              </a:ext>
            </a:extLst>
          </p:cNvPr>
          <p:cNvSpPr txBox="1"/>
          <p:nvPr/>
        </p:nvSpPr>
        <p:spPr>
          <a:xfrm>
            <a:off x="8791362" y="1887668"/>
            <a:ext cx="1775696" cy="307777"/>
          </a:xfrm>
          <a:prstGeom prst="rect">
            <a:avLst/>
          </a:prstGeom>
          <a:noFill/>
        </p:spPr>
        <p:txBody>
          <a:bodyPr wrap="square" lIns="91440" tIns="45720" rIns="91440" bIns="45720" rtlCol="0" anchor="t">
            <a:spAutoFit/>
          </a:bodyPr>
          <a:lstStyle/>
          <a:p>
            <a:r>
              <a:rPr lang="en-US" sz="1400" b="1" i="1" dirty="0"/>
              <a:t>Fig 1:</a:t>
            </a:r>
            <a:r>
              <a:rPr lang="en-US" sz="1400" i="1" dirty="0"/>
              <a:t> Alias structure</a:t>
            </a:r>
            <a:endParaRPr lang="bn-BD" sz="1400" i="1" dirty="0"/>
          </a:p>
        </p:txBody>
      </p:sp>
      <p:pic>
        <p:nvPicPr>
          <p:cNvPr id="7" name="Picture 8">
            <a:extLst>
              <a:ext uri="{FF2B5EF4-FFF2-40B4-BE49-F238E27FC236}">
                <a16:creationId xmlns:a16="http://schemas.microsoft.com/office/drawing/2014/main" id="{A25D38E7-4718-A24F-7C97-1221E1A18102}"/>
              </a:ext>
            </a:extLst>
          </p:cNvPr>
          <p:cNvPicPr>
            <a:picLocks noChangeAspect="1"/>
          </p:cNvPicPr>
          <p:nvPr/>
        </p:nvPicPr>
        <p:blipFill>
          <a:blip r:embed="rId4"/>
          <a:stretch>
            <a:fillRect/>
          </a:stretch>
        </p:blipFill>
        <p:spPr>
          <a:xfrm>
            <a:off x="8195734" y="964762"/>
            <a:ext cx="3066925" cy="800975"/>
          </a:xfrm>
          <a:prstGeom prst="rect">
            <a:avLst/>
          </a:prstGeom>
          <a:ln>
            <a:solidFill>
              <a:schemeClr val="tx1"/>
            </a:solidFill>
          </a:ln>
        </p:spPr>
      </p:pic>
    </p:spTree>
    <p:extLst>
      <p:ext uri="{BB962C8B-B14F-4D97-AF65-F5344CB8AC3E}">
        <p14:creationId xmlns:p14="http://schemas.microsoft.com/office/powerpoint/2010/main" val="3281118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39" name="Rectangle 38">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3" name="Isosceles Triangle 4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itle 1">
            <a:extLst>
              <a:ext uri="{FF2B5EF4-FFF2-40B4-BE49-F238E27FC236}">
                <a16:creationId xmlns:a16="http://schemas.microsoft.com/office/drawing/2014/main" id="{6D462C48-D311-4769-92B4-BB611FD907EE}"/>
              </a:ext>
            </a:extLst>
          </p:cNvPr>
          <p:cNvSpPr>
            <a:spLocks noGrp="1"/>
          </p:cNvSpPr>
          <p:nvPr>
            <p:ph type="title"/>
          </p:nvPr>
        </p:nvSpPr>
        <p:spPr>
          <a:xfrm>
            <a:off x="972708" y="208755"/>
            <a:ext cx="10381091" cy="748581"/>
          </a:xfrm>
        </p:spPr>
        <p:txBody>
          <a:bodyPr>
            <a:normAutofit/>
          </a:bodyPr>
          <a:lstStyle/>
          <a:p>
            <a:r>
              <a:rPr lang="en-US" sz="3600" b="1" kern="1200" dirty="0">
                <a:solidFill>
                  <a:schemeClr val="tx1"/>
                </a:solidFill>
                <a:latin typeface="+mj-lt"/>
                <a:ea typeface="+mj-ea"/>
                <a:cs typeface="+mj-cs"/>
              </a:rPr>
              <a:t>Analysis of Results </a:t>
            </a:r>
            <a:r>
              <a:rPr lang="en-US" sz="3600" b="1" dirty="0"/>
              <a:t>: Mean time</a:t>
            </a:r>
            <a:endParaRPr lang="bn-BD" sz="3600" b="1" dirty="0"/>
          </a:p>
        </p:txBody>
      </p:sp>
      <p:sp>
        <p:nvSpPr>
          <p:cNvPr id="50" name="Content Placeholder 5">
            <a:extLst>
              <a:ext uri="{FF2B5EF4-FFF2-40B4-BE49-F238E27FC236}">
                <a16:creationId xmlns:a16="http://schemas.microsoft.com/office/drawing/2014/main" id="{C5E3D289-5EF0-45B6-A1F6-8C5E97A327BD}"/>
              </a:ext>
            </a:extLst>
          </p:cNvPr>
          <p:cNvSpPr>
            <a:spLocks noGrp="1"/>
          </p:cNvSpPr>
          <p:nvPr>
            <p:ph idx="1"/>
          </p:nvPr>
        </p:nvSpPr>
        <p:spPr>
          <a:xfrm>
            <a:off x="740365" y="1398232"/>
            <a:ext cx="4815694" cy="1611221"/>
          </a:xfrm>
        </p:spPr>
        <p:txBody>
          <a:bodyPr vert="horz" lIns="91440" tIns="45720" rIns="91440" bIns="45720" rtlCol="0" anchor="t">
            <a:noAutofit/>
          </a:bodyPr>
          <a:lstStyle/>
          <a:p>
            <a:pPr marL="0" indent="0" algn="just">
              <a:buNone/>
            </a:pPr>
            <a:r>
              <a:rPr lang="en-US" sz="1800" dirty="0"/>
              <a:t>The normal probability plot of the effects (Daniel's plot) shows that </a:t>
            </a:r>
            <a:r>
              <a:rPr lang="en-US" sz="1800" b="1" dirty="0"/>
              <a:t>factors A, E and G are significant</a:t>
            </a:r>
            <a:r>
              <a:rPr lang="en-US" sz="1800" dirty="0"/>
              <a:t> or non-negligible.</a:t>
            </a:r>
            <a:endParaRPr lang="en-US" sz="1800" dirty="0">
              <a:cs typeface="Calibri"/>
            </a:endParaRPr>
          </a:p>
          <a:p>
            <a:pPr lvl="1" algn="just"/>
            <a:r>
              <a:rPr lang="en-US" sz="1600" dirty="0">
                <a:solidFill>
                  <a:srgbClr val="000000"/>
                </a:solidFill>
                <a:cs typeface="Calibri"/>
              </a:rPr>
              <a:t>These 3 factors were included in the ANOVA, so the others were pooled to the error term/residuals.</a:t>
            </a:r>
          </a:p>
          <a:p>
            <a:pPr algn="just"/>
            <a:endParaRPr lang="en-US" sz="1800" b="1" kern="1200" dirty="0">
              <a:solidFill>
                <a:srgbClr val="000000"/>
              </a:solidFill>
              <a:effectLst/>
              <a:ea typeface="+mn-ea"/>
              <a:cs typeface="+mn-cs"/>
            </a:endParaRPr>
          </a:p>
          <a:p>
            <a:pPr algn="just"/>
            <a:endParaRPr lang="en-US" sz="1800" b="1" kern="1200" dirty="0">
              <a:solidFill>
                <a:srgbClr val="000000"/>
              </a:solidFill>
              <a:effectLst/>
              <a:ea typeface="+mn-ea"/>
              <a:cs typeface="+mn-cs"/>
            </a:endParaRPr>
          </a:p>
        </p:txBody>
      </p:sp>
      <p:sp>
        <p:nvSpPr>
          <p:cNvPr id="54" name="TextBox 53">
            <a:extLst>
              <a:ext uri="{FF2B5EF4-FFF2-40B4-BE49-F238E27FC236}">
                <a16:creationId xmlns:a16="http://schemas.microsoft.com/office/drawing/2014/main" id="{8441FF27-3D15-463B-8337-37D873F99544}"/>
              </a:ext>
            </a:extLst>
          </p:cNvPr>
          <p:cNvSpPr txBox="1"/>
          <p:nvPr/>
        </p:nvSpPr>
        <p:spPr>
          <a:xfrm>
            <a:off x="1823764" y="6088204"/>
            <a:ext cx="2648897" cy="307777"/>
          </a:xfrm>
          <a:prstGeom prst="rect">
            <a:avLst/>
          </a:prstGeom>
          <a:noFill/>
        </p:spPr>
        <p:txBody>
          <a:bodyPr wrap="square" lIns="91440" tIns="45720" rIns="91440" bIns="45720" rtlCol="0" anchor="t">
            <a:spAutoFit/>
          </a:bodyPr>
          <a:lstStyle/>
          <a:p>
            <a:r>
              <a:rPr lang="en-US" sz="1400" b="1" i="1" dirty="0"/>
              <a:t>Fig 3:</a:t>
            </a:r>
            <a:r>
              <a:rPr lang="en-US" sz="1400" i="1" dirty="0"/>
              <a:t> Daniel's plot for mean time</a:t>
            </a:r>
            <a:endParaRPr lang="bn-BD" sz="1400" dirty="0"/>
          </a:p>
        </p:txBody>
      </p:sp>
      <p:sp>
        <p:nvSpPr>
          <p:cNvPr id="58" name="TextBox 57">
            <a:extLst>
              <a:ext uri="{FF2B5EF4-FFF2-40B4-BE49-F238E27FC236}">
                <a16:creationId xmlns:a16="http://schemas.microsoft.com/office/drawing/2014/main" id="{2BA9DA06-90A0-40FD-9CF5-0A99456594DB}"/>
              </a:ext>
            </a:extLst>
          </p:cNvPr>
          <p:cNvSpPr txBox="1"/>
          <p:nvPr/>
        </p:nvSpPr>
        <p:spPr>
          <a:xfrm>
            <a:off x="9972245" y="1013776"/>
            <a:ext cx="1902521" cy="307777"/>
          </a:xfrm>
          <a:prstGeom prst="rect">
            <a:avLst/>
          </a:prstGeom>
          <a:noFill/>
        </p:spPr>
        <p:txBody>
          <a:bodyPr wrap="square" lIns="91440" tIns="45720" rIns="91440" bIns="45720" rtlCol="0" anchor="t">
            <a:spAutoFit/>
          </a:bodyPr>
          <a:lstStyle/>
          <a:p>
            <a:r>
              <a:rPr lang="en-US" sz="1400" b="1" i="1" dirty="0"/>
              <a:t>Fig 4:</a:t>
            </a:r>
            <a:r>
              <a:rPr lang="en-US" sz="1400" i="1" dirty="0"/>
              <a:t> Residual analysis</a:t>
            </a:r>
            <a:endParaRPr lang="bn-BD" sz="1400" i="1" dirty="0"/>
          </a:p>
        </p:txBody>
      </p:sp>
      <p:pic>
        <p:nvPicPr>
          <p:cNvPr id="2" name="Picture 2" descr="Chart, scatter chart&#10;&#10;Description automatically generated">
            <a:extLst>
              <a:ext uri="{FF2B5EF4-FFF2-40B4-BE49-F238E27FC236}">
                <a16:creationId xmlns:a16="http://schemas.microsoft.com/office/drawing/2014/main" id="{94F55D7E-2FFB-5697-6DF4-055083883D2F}"/>
              </a:ext>
            </a:extLst>
          </p:cNvPr>
          <p:cNvPicPr>
            <a:picLocks noChangeAspect="1"/>
          </p:cNvPicPr>
          <p:nvPr/>
        </p:nvPicPr>
        <p:blipFill>
          <a:blip r:embed="rId2"/>
          <a:stretch>
            <a:fillRect/>
          </a:stretch>
        </p:blipFill>
        <p:spPr>
          <a:xfrm>
            <a:off x="1253233" y="3146826"/>
            <a:ext cx="3789960" cy="2909307"/>
          </a:xfrm>
          <a:prstGeom prst="rect">
            <a:avLst/>
          </a:prstGeom>
          <a:solidFill>
            <a:srgbClr val="FFFFFF">
              <a:shade val="85000"/>
            </a:srgbClr>
          </a:solidFill>
          <a:ln w="6350" cap="rnd">
            <a:solidFill>
              <a:schemeClr val="tx1"/>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6" name="Picture 6" descr="Graphical user interface, diagram&#10;&#10;Description automatically generated">
            <a:extLst>
              <a:ext uri="{FF2B5EF4-FFF2-40B4-BE49-F238E27FC236}">
                <a16:creationId xmlns:a16="http://schemas.microsoft.com/office/drawing/2014/main" id="{210277D7-280B-2E61-B598-7618B5751AFB}"/>
              </a:ext>
            </a:extLst>
          </p:cNvPr>
          <p:cNvPicPr>
            <a:picLocks noChangeAspect="1"/>
          </p:cNvPicPr>
          <p:nvPr/>
        </p:nvPicPr>
        <p:blipFill>
          <a:blip r:embed="rId3"/>
          <a:stretch>
            <a:fillRect/>
          </a:stretch>
        </p:blipFill>
        <p:spPr>
          <a:xfrm>
            <a:off x="6127534" y="1030885"/>
            <a:ext cx="3773239" cy="3024396"/>
          </a:xfrm>
          <a:prstGeom prst="rect">
            <a:avLst/>
          </a:prstGeom>
          <a:ln w="6350">
            <a:solidFill>
              <a:schemeClr val="tx1"/>
            </a:solidFill>
          </a:ln>
        </p:spPr>
      </p:pic>
      <p:sp>
        <p:nvSpPr>
          <p:cNvPr id="7" name="Slide Number Placeholder 6">
            <a:extLst>
              <a:ext uri="{FF2B5EF4-FFF2-40B4-BE49-F238E27FC236}">
                <a16:creationId xmlns:a16="http://schemas.microsoft.com/office/drawing/2014/main" id="{D20EED09-2093-4467-F267-35D7F57AD690}"/>
              </a:ext>
            </a:extLst>
          </p:cNvPr>
          <p:cNvSpPr>
            <a:spLocks noGrp="1"/>
          </p:cNvSpPr>
          <p:nvPr>
            <p:ph type="sldNum" sz="quarter" idx="12"/>
          </p:nvPr>
        </p:nvSpPr>
        <p:spPr/>
        <p:txBody>
          <a:bodyPr/>
          <a:lstStyle/>
          <a:p>
            <a:fld id="{399003F6-1962-4C57-BCBA-8B61979D0865}" type="slidenum">
              <a:rPr lang="bn-BD" smtClean="0"/>
              <a:t>6</a:t>
            </a:fld>
            <a:endParaRPr lang="en-US"/>
          </a:p>
        </p:txBody>
      </p:sp>
      <p:sp>
        <p:nvSpPr>
          <p:cNvPr id="5" name="TextBox 4">
            <a:extLst>
              <a:ext uri="{FF2B5EF4-FFF2-40B4-BE49-F238E27FC236}">
                <a16:creationId xmlns:a16="http://schemas.microsoft.com/office/drawing/2014/main" id="{F942E88C-B0A5-6C29-DB36-C08C84D8B4E2}"/>
              </a:ext>
            </a:extLst>
          </p:cNvPr>
          <p:cNvSpPr txBox="1"/>
          <p:nvPr/>
        </p:nvSpPr>
        <p:spPr>
          <a:xfrm>
            <a:off x="9985422" y="1404172"/>
            <a:ext cx="2038412" cy="2677656"/>
          </a:xfrm>
          <a:prstGeom prst="rect">
            <a:avLst/>
          </a:prstGeom>
          <a:noFill/>
        </p:spPr>
        <p:txBody>
          <a:bodyPr wrap="square" rtlCol="0">
            <a:spAutoFit/>
          </a:bodyPr>
          <a:lstStyle/>
          <a:p>
            <a:r>
              <a:rPr lang="en-US" sz="1400"/>
              <a:t>No concerns about residuals</a:t>
            </a:r>
          </a:p>
          <a:p>
            <a:pPr marL="285750" indent="-285750">
              <a:buFont typeface="Arial" panose="020B0604020202020204" pitchFamily="34" charset="0"/>
              <a:buChar char="•"/>
            </a:pPr>
            <a:r>
              <a:rPr lang="en-US" sz="1400" u="sng"/>
              <a:t>Residuals vs fitted values:</a:t>
            </a:r>
            <a:r>
              <a:rPr lang="en-US" sz="1400"/>
              <a:t> constant variance, no visible dependency*.</a:t>
            </a:r>
          </a:p>
          <a:p>
            <a:pPr marL="285750" indent="-285750">
              <a:buFont typeface="Arial" panose="020B0604020202020204" pitchFamily="34" charset="0"/>
              <a:buChar char="•"/>
            </a:pPr>
            <a:r>
              <a:rPr lang="en-US" sz="1400" u="sng"/>
              <a:t>Residuals NPP:</a:t>
            </a:r>
            <a:r>
              <a:rPr lang="en-US" sz="1400"/>
              <a:t> overall follow a normal distribution*</a:t>
            </a:r>
          </a:p>
          <a:p>
            <a:pPr marL="285750" indent="-285750">
              <a:buFont typeface="Arial" panose="020B0604020202020204" pitchFamily="34" charset="0"/>
              <a:buChar char="•"/>
            </a:pPr>
            <a:endParaRPr lang="en-US" sz="1400"/>
          </a:p>
          <a:p>
            <a:r>
              <a:rPr lang="en-US" sz="1400" i="1"/>
              <a:t>*obs.17 must be checked potential source of noise</a:t>
            </a:r>
          </a:p>
        </p:txBody>
      </p:sp>
      <p:cxnSp>
        <p:nvCxnSpPr>
          <p:cNvPr id="8" name="Straight Arrow Connector 7">
            <a:extLst>
              <a:ext uri="{FF2B5EF4-FFF2-40B4-BE49-F238E27FC236}">
                <a16:creationId xmlns:a16="http://schemas.microsoft.com/office/drawing/2014/main" id="{8F67B24E-CDB3-645A-1751-7F635B935F20}"/>
              </a:ext>
            </a:extLst>
          </p:cNvPr>
          <p:cNvCxnSpPr>
            <a:cxnSpLocks/>
          </p:cNvCxnSpPr>
          <p:nvPr/>
        </p:nvCxnSpPr>
        <p:spPr>
          <a:xfrm>
            <a:off x="5255319" y="5140326"/>
            <a:ext cx="687001"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7BCC734-9482-C52E-DE72-4F604C58CBBB}"/>
              </a:ext>
            </a:extLst>
          </p:cNvPr>
          <p:cNvSpPr txBox="1"/>
          <p:nvPr/>
        </p:nvSpPr>
        <p:spPr>
          <a:xfrm>
            <a:off x="6096000" y="4460079"/>
            <a:ext cx="4886636" cy="1600438"/>
          </a:xfrm>
          <a:prstGeom prst="rect">
            <a:avLst/>
          </a:prstGeom>
          <a:noFill/>
        </p:spPr>
        <p:txBody>
          <a:bodyPr wrap="square" rtlCol="0">
            <a:spAutoFit/>
          </a:bodyPr>
          <a:lstStyle/>
          <a:p>
            <a:r>
              <a:rPr lang="en-US" sz="1400" dirty="0"/>
              <a:t>Note: these main effects are confounded with 3-factor interactions. So, there is </a:t>
            </a:r>
            <a:r>
              <a:rPr lang="en-US" sz="1400" b="1" dirty="0"/>
              <a:t>no need to add more runs to de-alias chains as we assume that the effect is due to the </a:t>
            </a:r>
            <a:r>
              <a:rPr lang="en-US" sz="1400" b="1" dirty="0" err="1"/>
              <a:t>m.e.</a:t>
            </a:r>
            <a:r>
              <a:rPr lang="en-US" sz="1400" b="1" dirty="0"/>
              <a:t> </a:t>
            </a:r>
            <a:r>
              <a:rPr lang="en-US" sz="1400" dirty="0"/>
              <a:t>Alias chains up to 3f.i. are shown below:</a:t>
            </a:r>
            <a:endParaRPr lang="en-US" sz="1400" b="1" dirty="0"/>
          </a:p>
          <a:p>
            <a:pPr marL="285750" indent="-285750">
              <a:buFont typeface="Arial" panose="020B0604020202020204" pitchFamily="34" charset="0"/>
              <a:buChar char="•"/>
            </a:pPr>
            <a:r>
              <a:rPr lang="en-US" sz="1400" b="1" dirty="0"/>
              <a:t>A </a:t>
            </a:r>
            <a:r>
              <a:rPr lang="en-US" sz="1400" dirty="0"/>
              <a:t>= BCF = BDG</a:t>
            </a:r>
          </a:p>
          <a:p>
            <a:pPr marL="285750" indent="-285750">
              <a:buFont typeface="Arial" panose="020B0604020202020204" pitchFamily="34" charset="0"/>
              <a:buChar char="•"/>
            </a:pPr>
            <a:r>
              <a:rPr lang="en-US" sz="1400" b="1" dirty="0"/>
              <a:t>E </a:t>
            </a:r>
            <a:r>
              <a:rPr lang="en-US" sz="1400" dirty="0"/>
              <a:t>= </a:t>
            </a:r>
            <a:r>
              <a:rPr lang="en-US" sz="1400" i="1" dirty="0"/>
              <a:t> [clear]</a:t>
            </a:r>
          </a:p>
          <a:p>
            <a:pPr marL="285750" indent="-285750">
              <a:buFont typeface="Arial" panose="020B0604020202020204" pitchFamily="34" charset="0"/>
              <a:buChar char="•"/>
            </a:pPr>
            <a:r>
              <a:rPr lang="en-US" sz="1400" b="1" dirty="0"/>
              <a:t>G </a:t>
            </a:r>
            <a:r>
              <a:rPr lang="en-US" sz="1400" dirty="0"/>
              <a:t>= ABD = CDF</a:t>
            </a:r>
          </a:p>
        </p:txBody>
      </p:sp>
    </p:spTree>
    <p:extLst>
      <p:ext uri="{BB962C8B-B14F-4D97-AF65-F5344CB8AC3E}">
        <p14:creationId xmlns:p14="http://schemas.microsoft.com/office/powerpoint/2010/main" val="3705139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39" name="Rectangle 38">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3" name="Isosceles Triangle 4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itle 1">
            <a:extLst>
              <a:ext uri="{FF2B5EF4-FFF2-40B4-BE49-F238E27FC236}">
                <a16:creationId xmlns:a16="http://schemas.microsoft.com/office/drawing/2014/main" id="{6D462C48-D311-4769-92B4-BB611FD907EE}"/>
              </a:ext>
            </a:extLst>
          </p:cNvPr>
          <p:cNvSpPr>
            <a:spLocks noGrp="1"/>
          </p:cNvSpPr>
          <p:nvPr>
            <p:ph type="title"/>
          </p:nvPr>
        </p:nvSpPr>
        <p:spPr>
          <a:xfrm>
            <a:off x="972708" y="229922"/>
            <a:ext cx="10381091" cy="748581"/>
          </a:xfrm>
        </p:spPr>
        <p:txBody>
          <a:bodyPr>
            <a:normAutofit/>
          </a:bodyPr>
          <a:lstStyle/>
          <a:p>
            <a:r>
              <a:rPr lang="en-US" sz="3600" b="1" kern="1200" dirty="0">
                <a:latin typeface="+mj-lt"/>
                <a:ea typeface="+mj-ea"/>
                <a:cs typeface="+mj-cs"/>
              </a:rPr>
              <a:t>Analysis of Results </a:t>
            </a:r>
            <a:r>
              <a:rPr lang="en-US" sz="3600" b="1" dirty="0"/>
              <a:t>: Standard Deviation</a:t>
            </a:r>
            <a:endParaRPr lang="bn-BD" sz="3600" b="1" dirty="0"/>
          </a:p>
        </p:txBody>
      </p:sp>
      <p:sp>
        <p:nvSpPr>
          <p:cNvPr id="47" name="TextBox 46">
            <a:extLst>
              <a:ext uri="{FF2B5EF4-FFF2-40B4-BE49-F238E27FC236}">
                <a16:creationId xmlns:a16="http://schemas.microsoft.com/office/drawing/2014/main" id="{986B0289-6680-4F65-9B89-7716A7A7CA5C}"/>
              </a:ext>
            </a:extLst>
          </p:cNvPr>
          <p:cNvSpPr txBox="1"/>
          <p:nvPr/>
        </p:nvSpPr>
        <p:spPr>
          <a:xfrm>
            <a:off x="1293122" y="6222520"/>
            <a:ext cx="3972707" cy="307777"/>
          </a:xfrm>
          <a:prstGeom prst="rect">
            <a:avLst/>
          </a:prstGeom>
          <a:noFill/>
        </p:spPr>
        <p:txBody>
          <a:bodyPr wrap="square" lIns="91440" tIns="45720" rIns="91440" bIns="45720" rtlCol="0" anchor="t">
            <a:spAutoFit/>
          </a:bodyPr>
          <a:lstStyle/>
          <a:p>
            <a:r>
              <a:rPr lang="en-US" sz="1400" b="1" i="1" dirty="0"/>
              <a:t>Fig 5: </a:t>
            </a:r>
            <a:r>
              <a:rPr lang="en-US" sz="1400" i="1" dirty="0">
                <a:ea typeface="+mn-lt"/>
                <a:cs typeface="+mn-lt"/>
              </a:rPr>
              <a:t>Daniel's plot for standard deviation in time</a:t>
            </a:r>
            <a:endParaRPr lang="en-US" sz="1400" dirty="0">
              <a:ea typeface="+mn-lt"/>
              <a:cs typeface="+mn-lt"/>
            </a:endParaRPr>
          </a:p>
        </p:txBody>
      </p:sp>
      <p:sp>
        <p:nvSpPr>
          <p:cNvPr id="22" name="Content Placeholder 5">
            <a:extLst>
              <a:ext uri="{FF2B5EF4-FFF2-40B4-BE49-F238E27FC236}">
                <a16:creationId xmlns:a16="http://schemas.microsoft.com/office/drawing/2014/main" id="{049E20F6-363A-4FC7-B417-A6E286A3B9BF}"/>
              </a:ext>
            </a:extLst>
          </p:cNvPr>
          <p:cNvSpPr>
            <a:spLocks noGrp="1"/>
          </p:cNvSpPr>
          <p:nvPr>
            <p:ph idx="1"/>
          </p:nvPr>
        </p:nvSpPr>
        <p:spPr>
          <a:xfrm>
            <a:off x="670705" y="1187001"/>
            <a:ext cx="5020087" cy="2025280"/>
          </a:xfrm>
        </p:spPr>
        <p:txBody>
          <a:bodyPr vert="horz" lIns="91440" tIns="45720" rIns="91440" bIns="45720" rtlCol="0" anchor="t">
            <a:noAutofit/>
          </a:bodyPr>
          <a:lstStyle/>
          <a:p>
            <a:pPr marL="0" indent="0" algn="just">
              <a:buNone/>
            </a:pPr>
            <a:r>
              <a:rPr lang="en-US" sz="1800" dirty="0"/>
              <a:t>The normal probability plot of the effects (Daniel's plot) shows that </a:t>
            </a:r>
            <a:r>
              <a:rPr lang="en-US" sz="1800" b="1" dirty="0"/>
              <a:t>main factors A, E and G</a:t>
            </a:r>
            <a:r>
              <a:rPr lang="en-US" sz="1800" dirty="0"/>
              <a:t>, and </a:t>
            </a:r>
            <a:r>
              <a:rPr lang="en-US" sz="1800" b="1" dirty="0"/>
              <a:t>interaction effects E*G, B*H, C*E and A*B*E</a:t>
            </a:r>
            <a:r>
              <a:rPr lang="en-US" sz="1800" dirty="0"/>
              <a:t> are significant or non-negligible.</a:t>
            </a:r>
            <a:endParaRPr lang="en-US" sz="1800" dirty="0">
              <a:cs typeface="Calibri"/>
            </a:endParaRPr>
          </a:p>
          <a:p>
            <a:pPr lvl="1" algn="just"/>
            <a:r>
              <a:rPr lang="en-US" sz="1400" dirty="0">
                <a:cs typeface="Calibri"/>
              </a:rPr>
              <a:t>All of these (except the ABE interaction), are included in the ANOVA (to simplify the model analysis, and ABE is a three-factor interaction which is also close to the straight line, so its effect is not too significant).</a:t>
            </a:r>
            <a:endParaRPr lang="en-US" sz="1400" kern="1200" dirty="0">
              <a:solidFill>
                <a:srgbClr val="000000"/>
              </a:solidFill>
              <a:effectLst/>
              <a:cs typeface="Calibri"/>
            </a:endParaRPr>
          </a:p>
          <a:p>
            <a:pPr algn="just"/>
            <a:endParaRPr lang="en-US" sz="1800" b="1" dirty="0">
              <a:solidFill>
                <a:srgbClr val="000000"/>
              </a:solidFill>
              <a:cs typeface="Calibri" panose="020F0502020204030204"/>
            </a:endParaRPr>
          </a:p>
        </p:txBody>
      </p:sp>
      <p:pic>
        <p:nvPicPr>
          <p:cNvPr id="2" name="Picture 2" descr="Chart, scatter chart&#10;&#10;Description automatically generated">
            <a:extLst>
              <a:ext uri="{FF2B5EF4-FFF2-40B4-BE49-F238E27FC236}">
                <a16:creationId xmlns:a16="http://schemas.microsoft.com/office/drawing/2014/main" id="{E17E49C0-C137-68BF-0D23-59744B4E7048}"/>
              </a:ext>
            </a:extLst>
          </p:cNvPr>
          <p:cNvPicPr>
            <a:picLocks noChangeAspect="1"/>
          </p:cNvPicPr>
          <p:nvPr/>
        </p:nvPicPr>
        <p:blipFill>
          <a:blip r:embed="rId2"/>
          <a:stretch>
            <a:fillRect/>
          </a:stretch>
        </p:blipFill>
        <p:spPr>
          <a:xfrm>
            <a:off x="1285219" y="3242113"/>
            <a:ext cx="3791057" cy="2907953"/>
          </a:xfrm>
          <a:prstGeom prst="rect">
            <a:avLst/>
          </a:prstGeom>
          <a:ln>
            <a:solidFill>
              <a:schemeClr val="tx1"/>
            </a:solidFill>
          </a:ln>
        </p:spPr>
      </p:pic>
      <p:sp>
        <p:nvSpPr>
          <p:cNvPr id="3" name="Slide Number Placeholder 2">
            <a:extLst>
              <a:ext uri="{FF2B5EF4-FFF2-40B4-BE49-F238E27FC236}">
                <a16:creationId xmlns:a16="http://schemas.microsoft.com/office/drawing/2014/main" id="{E05DEBF2-8565-6D52-B794-98C27DDC501E}"/>
              </a:ext>
            </a:extLst>
          </p:cNvPr>
          <p:cNvSpPr>
            <a:spLocks noGrp="1"/>
          </p:cNvSpPr>
          <p:nvPr>
            <p:ph type="sldNum" sz="quarter" idx="12"/>
          </p:nvPr>
        </p:nvSpPr>
        <p:spPr/>
        <p:txBody>
          <a:bodyPr/>
          <a:lstStyle/>
          <a:p>
            <a:fld id="{399003F6-1962-4C57-BCBA-8B61979D0865}" type="slidenum">
              <a:rPr lang="bn-BD" smtClean="0"/>
              <a:t>7</a:t>
            </a:fld>
            <a:endParaRPr lang="en-US"/>
          </a:p>
        </p:txBody>
      </p:sp>
      <p:sp>
        <p:nvSpPr>
          <p:cNvPr id="5" name="TextBox 4">
            <a:extLst>
              <a:ext uri="{FF2B5EF4-FFF2-40B4-BE49-F238E27FC236}">
                <a16:creationId xmlns:a16="http://schemas.microsoft.com/office/drawing/2014/main" id="{ADE32E28-4291-FCAC-AEF0-CB8A7716EF22}"/>
              </a:ext>
            </a:extLst>
          </p:cNvPr>
          <p:cNvSpPr txBox="1"/>
          <p:nvPr/>
        </p:nvSpPr>
        <p:spPr>
          <a:xfrm>
            <a:off x="9696150" y="1091726"/>
            <a:ext cx="2009452" cy="307777"/>
          </a:xfrm>
          <a:prstGeom prst="rect">
            <a:avLst/>
          </a:prstGeom>
          <a:noFill/>
        </p:spPr>
        <p:txBody>
          <a:bodyPr wrap="square" lIns="91440" tIns="45720" rIns="91440" bIns="45720" rtlCol="0" anchor="t">
            <a:spAutoFit/>
          </a:bodyPr>
          <a:lstStyle/>
          <a:p>
            <a:r>
              <a:rPr lang="en-US" sz="1400" b="1" i="1" dirty="0"/>
              <a:t>Fig 6:</a:t>
            </a:r>
            <a:r>
              <a:rPr lang="en-US" sz="1400" i="1" dirty="0"/>
              <a:t> Residuals analysis</a:t>
            </a:r>
            <a:endParaRPr lang="bn-BD" sz="1400" i="1" dirty="0"/>
          </a:p>
        </p:txBody>
      </p:sp>
      <p:pic>
        <p:nvPicPr>
          <p:cNvPr id="6" name="Picture 6" descr="Chart, scatter chart&#10;&#10;Description automatically generated">
            <a:extLst>
              <a:ext uri="{FF2B5EF4-FFF2-40B4-BE49-F238E27FC236}">
                <a16:creationId xmlns:a16="http://schemas.microsoft.com/office/drawing/2014/main" id="{FC6A549E-6AC1-F7B1-D387-C2E3B742C674}"/>
              </a:ext>
            </a:extLst>
          </p:cNvPr>
          <p:cNvPicPr>
            <a:picLocks noChangeAspect="1"/>
          </p:cNvPicPr>
          <p:nvPr/>
        </p:nvPicPr>
        <p:blipFill>
          <a:blip r:embed="rId3"/>
          <a:stretch>
            <a:fillRect/>
          </a:stretch>
        </p:blipFill>
        <p:spPr>
          <a:xfrm>
            <a:off x="6361497" y="1036086"/>
            <a:ext cx="3334653" cy="2830411"/>
          </a:xfrm>
          <a:prstGeom prst="rect">
            <a:avLst/>
          </a:prstGeom>
          <a:ln>
            <a:solidFill>
              <a:schemeClr val="tx1"/>
            </a:solidFill>
          </a:ln>
        </p:spPr>
      </p:pic>
      <p:sp>
        <p:nvSpPr>
          <p:cNvPr id="4" name="TextBox 3">
            <a:extLst>
              <a:ext uri="{FF2B5EF4-FFF2-40B4-BE49-F238E27FC236}">
                <a16:creationId xmlns:a16="http://schemas.microsoft.com/office/drawing/2014/main" id="{CC60A9DF-0C02-0FAE-2093-249BD74CD95F}"/>
              </a:ext>
            </a:extLst>
          </p:cNvPr>
          <p:cNvSpPr txBox="1"/>
          <p:nvPr/>
        </p:nvSpPr>
        <p:spPr>
          <a:xfrm>
            <a:off x="9756152" y="1619728"/>
            <a:ext cx="1965403" cy="2246769"/>
          </a:xfrm>
          <a:prstGeom prst="rect">
            <a:avLst/>
          </a:prstGeom>
          <a:noFill/>
        </p:spPr>
        <p:txBody>
          <a:bodyPr wrap="square" rtlCol="0">
            <a:spAutoFit/>
          </a:bodyPr>
          <a:lstStyle/>
          <a:p>
            <a:r>
              <a:rPr lang="en-US" sz="1400"/>
              <a:t>No concerns about residuals</a:t>
            </a:r>
          </a:p>
          <a:p>
            <a:pPr marL="285750" indent="-285750">
              <a:buFont typeface="Arial" panose="020B0604020202020204" pitchFamily="34" charset="0"/>
              <a:buChar char="•"/>
            </a:pPr>
            <a:r>
              <a:rPr lang="en-US" sz="1400" u="sng"/>
              <a:t>Residuals vs fitted values: </a:t>
            </a:r>
            <a:r>
              <a:rPr lang="en-US" sz="1400"/>
              <a:t>constant variance, no visible pattern.</a:t>
            </a:r>
          </a:p>
          <a:p>
            <a:pPr marL="285750" indent="-285750">
              <a:buFont typeface="Arial" panose="020B0604020202020204" pitchFamily="34" charset="0"/>
              <a:buChar char="•"/>
            </a:pPr>
            <a:r>
              <a:rPr lang="en-US" sz="1400" u="sng"/>
              <a:t>Residuals NPP: </a:t>
            </a:r>
            <a:r>
              <a:rPr lang="en-US" sz="1400"/>
              <a:t>follow a normal distribution, only slightly differences</a:t>
            </a:r>
          </a:p>
        </p:txBody>
      </p:sp>
      <p:cxnSp>
        <p:nvCxnSpPr>
          <p:cNvPr id="8" name="Straight Arrow Connector 7">
            <a:extLst>
              <a:ext uri="{FF2B5EF4-FFF2-40B4-BE49-F238E27FC236}">
                <a16:creationId xmlns:a16="http://schemas.microsoft.com/office/drawing/2014/main" id="{E5B91E6D-17E4-50D7-6314-B8534E82A2D2}"/>
              </a:ext>
            </a:extLst>
          </p:cNvPr>
          <p:cNvCxnSpPr>
            <a:cxnSpLocks/>
          </p:cNvCxnSpPr>
          <p:nvPr/>
        </p:nvCxnSpPr>
        <p:spPr>
          <a:xfrm>
            <a:off x="5265829" y="5035219"/>
            <a:ext cx="687001" cy="0"/>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E262EBE-4B05-0B75-0278-8BF0EA1E9334}"/>
              </a:ext>
            </a:extLst>
          </p:cNvPr>
          <p:cNvSpPr txBox="1"/>
          <p:nvPr/>
        </p:nvSpPr>
        <p:spPr>
          <a:xfrm>
            <a:off x="6086164" y="4206962"/>
            <a:ext cx="4886636" cy="2246769"/>
          </a:xfrm>
          <a:prstGeom prst="rect">
            <a:avLst/>
          </a:prstGeom>
          <a:noFill/>
        </p:spPr>
        <p:txBody>
          <a:bodyPr wrap="square" rtlCol="0">
            <a:spAutoFit/>
          </a:bodyPr>
          <a:lstStyle/>
          <a:p>
            <a:r>
              <a:rPr lang="en-US" sz="1400" dirty="0"/>
              <a:t>Note: these main effects and two factor interactions are confounded with 3-factor interactions. So, there is </a:t>
            </a:r>
            <a:r>
              <a:rPr lang="en-US" sz="1400" b="1" dirty="0"/>
              <a:t>no need to add more runs to de-alias chains as we assume that the effect is due to the </a:t>
            </a:r>
            <a:r>
              <a:rPr lang="en-US" sz="1400" b="1" dirty="0" err="1"/>
              <a:t>m.e.</a:t>
            </a:r>
            <a:r>
              <a:rPr lang="en-US" sz="1400" b="1" dirty="0"/>
              <a:t> and 2fi.</a:t>
            </a:r>
            <a:r>
              <a:rPr lang="en-US" sz="1400" dirty="0"/>
              <a:t> Alias chains up to 3f.i. are shown below:</a:t>
            </a:r>
            <a:endParaRPr lang="en-US" sz="1400" b="1" dirty="0"/>
          </a:p>
          <a:p>
            <a:pPr marL="285750" indent="-285750">
              <a:buFont typeface="Arial" panose="020B0604020202020204" pitchFamily="34" charset="0"/>
              <a:buChar char="•"/>
            </a:pPr>
            <a:r>
              <a:rPr lang="en-US" sz="1400" b="1" dirty="0"/>
              <a:t>A </a:t>
            </a:r>
            <a:r>
              <a:rPr lang="en-US" sz="1400" dirty="0"/>
              <a:t>= BCF = BDG</a:t>
            </a:r>
          </a:p>
          <a:p>
            <a:pPr marL="285750" indent="-285750">
              <a:buFont typeface="Arial" panose="020B0604020202020204" pitchFamily="34" charset="0"/>
              <a:buChar char="•"/>
            </a:pPr>
            <a:r>
              <a:rPr lang="en-US" sz="1400" b="1" dirty="0"/>
              <a:t>E </a:t>
            </a:r>
            <a:r>
              <a:rPr lang="en-US" sz="1400" dirty="0"/>
              <a:t>=  </a:t>
            </a:r>
            <a:r>
              <a:rPr lang="en-US" sz="1400" i="1" dirty="0"/>
              <a:t>[clear]</a:t>
            </a:r>
          </a:p>
          <a:p>
            <a:pPr marL="285750" indent="-285750">
              <a:buFont typeface="Arial" panose="020B0604020202020204" pitchFamily="34" charset="0"/>
              <a:buChar char="•"/>
            </a:pPr>
            <a:r>
              <a:rPr lang="en-US" sz="1400" b="1" dirty="0"/>
              <a:t>G </a:t>
            </a:r>
            <a:r>
              <a:rPr lang="en-US" sz="1400" dirty="0"/>
              <a:t>= ABD = CDF</a:t>
            </a:r>
          </a:p>
          <a:p>
            <a:pPr marL="285750" indent="-285750">
              <a:buFont typeface="Arial" panose="020B0604020202020204" pitchFamily="34" charset="0"/>
              <a:buChar char="•"/>
            </a:pPr>
            <a:r>
              <a:rPr lang="en-US" sz="1400" b="1" dirty="0"/>
              <a:t>EG =</a:t>
            </a:r>
            <a:r>
              <a:rPr lang="en-US" sz="1400" dirty="0"/>
              <a:t> ACH = BFH</a:t>
            </a:r>
          </a:p>
          <a:p>
            <a:pPr marL="285750" indent="-285750">
              <a:buFont typeface="Arial" panose="020B0604020202020204" pitchFamily="34" charset="0"/>
              <a:buChar char="•"/>
            </a:pPr>
            <a:r>
              <a:rPr lang="en-US" sz="1400" b="1" dirty="0"/>
              <a:t>BH</a:t>
            </a:r>
            <a:r>
              <a:rPr lang="en-US" sz="1400" dirty="0"/>
              <a:t> = CDE = EFG</a:t>
            </a:r>
            <a:endParaRPr lang="en-US" sz="1400" b="1" dirty="0"/>
          </a:p>
          <a:p>
            <a:pPr marL="285750" indent="-285750">
              <a:buFont typeface="Arial" panose="020B0604020202020204" pitchFamily="34" charset="0"/>
              <a:buChar char="•"/>
            </a:pPr>
            <a:r>
              <a:rPr lang="en-US" sz="1400" b="1" dirty="0"/>
              <a:t>CE</a:t>
            </a:r>
            <a:r>
              <a:rPr lang="en-US" sz="1400" dirty="0"/>
              <a:t> = BDH = AGH</a:t>
            </a:r>
            <a:endParaRPr lang="en-US" sz="1400" b="1" dirty="0"/>
          </a:p>
        </p:txBody>
      </p:sp>
    </p:spTree>
    <p:extLst>
      <p:ext uri="{BB962C8B-B14F-4D97-AF65-F5344CB8AC3E}">
        <p14:creationId xmlns:p14="http://schemas.microsoft.com/office/powerpoint/2010/main" val="3401816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39" name="Rectangle 38">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3" name="Isosceles Triangle 4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itle 1">
            <a:extLst>
              <a:ext uri="{FF2B5EF4-FFF2-40B4-BE49-F238E27FC236}">
                <a16:creationId xmlns:a16="http://schemas.microsoft.com/office/drawing/2014/main" id="{6D462C48-D311-4769-92B4-BB611FD907EE}"/>
              </a:ext>
            </a:extLst>
          </p:cNvPr>
          <p:cNvSpPr>
            <a:spLocks noGrp="1"/>
          </p:cNvSpPr>
          <p:nvPr>
            <p:ph type="title"/>
          </p:nvPr>
        </p:nvSpPr>
        <p:spPr>
          <a:xfrm>
            <a:off x="972708" y="229922"/>
            <a:ext cx="10381091" cy="748581"/>
          </a:xfrm>
        </p:spPr>
        <p:txBody>
          <a:bodyPr>
            <a:normAutofit/>
          </a:bodyPr>
          <a:lstStyle/>
          <a:p>
            <a:r>
              <a:rPr lang="en-US" sz="3600" b="1">
                <a:cs typeface="Calibri Light"/>
              </a:rPr>
              <a:t>Interaction Plots for Standard Deviation</a:t>
            </a:r>
          </a:p>
        </p:txBody>
      </p:sp>
      <p:sp>
        <p:nvSpPr>
          <p:cNvPr id="19" name="TextBox 18">
            <a:extLst>
              <a:ext uri="{FF2B5EF4-FFF2-40B4-BE49-F238E27FC236}">
                <a16:creationId xmlns:a16="http://schemas.microsoft.com/office/drawing/2014/main" id="{C9203DEB-371E-4846-96A9-509C4C35F120}"/>
              </a:ext>
            </a:extLst>
          </p:cNvPr>
          <p:cNvSpPr txBox="1"/>
          <p:nvPr/>
        </p:nvSpPr>
        <p:spPr>
          <a:xfrm>
            <a:off x="455859" y="4772951"/>
            <a:ext cx="3123660" cy="307777"/>
          </a:xfrm>
          <a:prstGeom prst="rect">
            <a:avLst/>
          </a:prstGeom>
          <a:noFill/>
        </p:spPr>
        <p:txBody>
          <a:bodyPr wrap="square" lIns="91440" tIns="45720" rIns="91440" bIns="45720" rtlCol="0" anchor="t">
            <a:spAutoFit/>
          </a:bodyPr>
          <a:lstStyle/>
          <a:p>
            <a:r>
              <a:rPr lang="en-US" sz="1400" b="1" i="1" dirty="0"/>
              <a:t>Fig 7:</a:t>
            </a:r>
            <a:r>
              <a:rPr lang="en-US" sz="1400" i="1" dirty="0"/>
              <a:t> Interaction plot between C and E</a:t>
            </a:r>
            <a:endParaRPr lang="bn-BD" sz="1400" i="1" dirty="0">
              <a:cs typeface="Vrinda" panose="020B0502040204020203" pitchFamily="34" charset="0"/>
            </a:endParaRPr>
          </a:p>
        </p:txBody>
      </p:sp>
      <p:sp>
        <p:nvSpPr>
          <p:cNvPr id="3" name="Slide Number Placeholder 2">
            <a:extLst>
              <a:ext uri="{FF2B5EF4-FFF2-40B4-BE49-F238E27FC236}">
                <a16:creationId xmlns:a16="http://schemas.microsoft.com/office/drawing/2014/main" id="{E05DEBF2-8565-6D52-B794-98C27DDC501E}"/>
              </a:ext>
            </a:extLst>
          </p:cNvPr>
          <p:cNvSpPr>
            <a:spLocks noGrp="1"/>
          </p:cNvSpPr>
          <p:nvPr>
            <p:ph type="sldNum" sz="quarter" idx="12"/>
          </p:nvPr>
        </p:nvSpPr>
        <p:spPr/>
        <p:txBody>
          <a:bodyPr/>
          <a:lstStyle/>
          <a:p>
            <a:fld id="{399003F6-1962-4C57-BCBA-8B61979D0865}" type="slidenum">
              <a:rPr lang="bn-BD" smtClean="0"/>
              <a:t>8</a:t>
            </a:fld>
            <a:endParaRPr lang="en-US"/>
          </a:p>
        </p:txBody>
      </p:sp>
      <p:pic>
        <p:nvPicPr>
          <p:cNvPr id="8" name="Picture 8">
            <a:extLst>
              <a:ext uri="{FF2B5EF4-FFF2-40B4-BE49-F238E27FC236}">
                <a16:creationId xmlns:a16="http://schemas.microsoft.com/office/drawing/2014/main" id="{358B3976-0156-E3C1-E5B6-4DBBA80EE084}"/>
              </a:ext>
            </a:extLst>
          </p:cNvPr>
          <p:cNvPicPr>
            <a:picLocks noChangeAspect="1"/>
          </p:cNvPicPr>
          <p:nvPr/>
        </p:nvPicPr>
        <p:blipFill>
          <a:blip r:embed="rId2"/>
          <a:stretch>
            <a:fillRect/>
          </a:stretch>
        </p:blipFill>
        <p:spPr>
          <a:xfrm>
            <a:off x="273187" y="1703766"/>
            <a:ext cx="3383280" cy="3019772"/>
          </a:xfrm>
          <a:prstGeom prst="rect">
            <a:avLst/>
          </a:prstGeom>
        </p:spPr>
      </p:pic>
      <p:pic>
        <p:nvPicPr>
          <p:cNvPr id="9" name="Picture 9" descr="Chart, scatter chart&#10;&#10;Description automatically generated">
            <a:extLst>
              <a:ext uri="{FF2B5EF4-FFF2-40B4-BE49-F238E27FC236}">
                <a16:creationId xmlns:a16="http://schemas.microsoft.com/office/drawing/2014/main" id="{2DA399F3-7350-DBCE-81B2-FC4D85AE67D3}"/>
              </a:ext>
            </a:extLst>
          </p:cNvPr>
          <p:cNvPicPr>
            <a:picLocks noChangeAspect="1"/>
          </p:cNvPicPr>
          <p:nvPr/>
        </p:nvPicPr>
        <p:blipFill>
          <a:blip r:embed="rId3"/>
          <a:stretch>
            <a:fillRect/>
          </a:stretch>
        </p:blipFill>
        <p:spPr>
          <a:xfrm>
            <a:off x="4381906" y="1766504"/>
            <a:ext cx="3383280" cy="2876532"/>
          </a:xfrm>
          <a:prstGeom prst="rect">
            <a:avLst/>
          </a:prstGeom>
        </p:spPr>
      </p:pic>
      <p:pic>
        <p:nvPicPr>
          <p:cNvPr id="10" name="Picture 10" descr="Chart, line chart&#10;&#10;Description automatically generated">
            <a:extLst>
              <a:ext uri="{FF2B5EF4-FFF2-40B4-BE49-F238E27FC236}">
                <a16:creationId xmlns:a16="http://schemas.microsoft.com/office/drawing/2014/main" id="{DDA97551-8F35-B371-7BAC-EF59EEE46723}"/>
              </a:ext>
            </a:extLst>
          </p:cNvPr>
          <p:cNvPicPr>
            <a:picLocks noChangeAspect="1"/>
          </p:cNvPicPr>
          <p:nvPr/>
        </p:nvPicPr>
        <p:blipFill>
          <a:blip r:embed="rId4"/>
          <a:stretch>
            <a:fillRect/>
          </a:stretch>
        </p:blipFill>
        <p:spPr>
          <a:xfrm>
            <a:off x="8120208" y="1755098"/>
            <a:ext cx="3383280" cy="2895941"/>
          </a:xfrm>
          <a:prstGeom prst="rect">
            <a:avLst/>
          </a:prstGeom>
        </p:spPr>
      </p:pic>
      <p:sp>
        <p:nvSpPr>
          <p:cNvPr id="12" name="TextBox 11">
            <a:extLst>
              <a:ext uri="{FF2B5EF4-FFF2-40B4-BE49-F238E27FC236}">
                <a16:creationId xmlns:a16="http://schemas.microsoft.com/office/drawing/2014/main" id="{37960824-FB1A-43CD-ED7F-62AC3C3BE556}"/>
              </a:ext>
            </a:extLst>
          </p:cNvPr>
          <p:cNvSpPr txBox="1"/>
          <p:nvPr/>
        </p:nvSpPr>
        <p:spPr>
          <a:xfrm>
            <a:off x="4606864" y="4772951"/>
            <a:ext cx="3123660" cy="307777"/>
          </a:xfrm>
          <a:prstGeom prst="rect">
            <a:avLst/>
          </a:prstGeom>
          <a:noFill/>
        </p:spPr>
        <p:txBody>
          <a:bodyPr wrap="square" lIns="91440" tIns="45720" rIns="91440" bIns="45720" rtlCol="0" anchor="t">
            <a:spAutoFit/>
          </a:bodyPr>
          <a:lstStyle/>
          <a:p>
            <a:r>
              <a:rPr lang="en-US" sz="1400" b="1" i="1" dirty="0"/>
              <a:t>Fig 8:</a:t>
            </a:r>
            <a:r>
              <a:rPr lang="en-US" sz="1400" i="1" dirty="0"/>
              <a:t> Interaction plot between B and H</a:t>
            </a:r>
            <a:endParaRPr lang="en-US" sz="1400" i="1" dirty="0">
              <a:cs typeface="Calibri"/>
            </a:endParaRPr>
          </a:p>
        </p:txBody>
      </p:sp>
      <p:sp>
        <p:nvSpPr>
          <p:cNvPr id="14" name="TextBox 13">
            <a:extLst>
              <a:ext uri="{FF2B5EF4-FFF2-40B4-BE49-F238E27FC236}">
                <a16:creationId xmlns:a16="http://schemas.microsoft.com/office/drawing/2014/main" id="{F44A391D-97C0-C2A3-D607-DCB76C29C609}"/>
              </a:ext>
            </a:extLst>
          </p:cNvPr>
          <p:cNvSpPr txBox="1"/>
          <p:nvPr/>
        </p:nvSpPr>
        <p:spPr>
          <a:xfrm>
            <a:off x="8562685" y="4770713"/>
            <a:ext cx="3027069" cy="307777"/>
          </a:xfrm>
          <a:prstGeom prst="rect">
            <a:avLst/>
          </a:prstGeom>
          <a:noFill/>
        </p:spPr>
        <p:txBody>
          <a:bodyPr wrap="square" lIns="91440" tIns="45720" rIns="91440" bIns="45720" rtlCol="0" anchor="t">
            <a:spAutoFit/>
          </a:bodyPr>
          <a:lstStyle/>
          <a:p>
            <a:r>
              <a:rPr lang="en-US" sz="1400" b="1" i="1" dirty="0"/>
              <a:t>Fig 9:</a:t>
            </a:r>
            <a:r>
              <a:rPr lang="en-US" sz="1400" i="1" dirty="0"/>
              <a:t> Interaction plot between E and G</a:t>
            </a:r>
            <a:endParaRPr lang="en-US" sz="1400" i="1" dirty="0">
              <a:cs typeface="Calibri"/>
            </a:endParaRPr>
          </a:p>
        </p:txBody>
      </p:sp>
      <p:sp>
        <p:nvSpPr>
          <p:cNvPr id="2" name="TextBox 1">
            <a:extLst>
              <a:ext uri="{FF2B5EF4-FFF2-40B4-BE49-F238E27FC236}">
                <a16:creationId xmlns:a16="http://schemas.microsoft.com/office/drawing/2014/main" id="{640B024C-B912-6574-772A-A17C188A66C2}"/>
              </a:ext>
            </a:extLst>
          </p:cNvPr>
          <p:cNvSpPr txBox="1"/>
          <p:nvPr/>
        </p:nvSpPr>
        <p:spPr>
          <a:xfrm>
            <a:off x="486355" y="5426100"/>
            <a:ext cx="3123660" cy="738664"/>
          </a:xfrm>
          <a:prstGeom prst="rect">
            <a:avLst/>
          </a:prstGeom>
          <a:noFill/>
        </p:spPr>
        <p:txBody>
          <a:bodyPr wrap="square" lIns="91440" tIns="45720" rIns="91440" bIns="45720" rtlCol="0" anchor="t">
            <a:spAutoFit/>
          </a:bodyPr>
          <a:lstStyle/>
          <a:p>
            <a:pPr algn="just"/>
            <a:r>
              <a:rPr lang="en-US" sz="1400" dirty="0">
                <a:cs typeface="Calibri"/>
              </a:rPr>
              <a:t>For minimizing standard deviation, </a:t>
            </a:r>
            <a:r>
              <a:rPr lang="en-US" sz="1400" dirty="0">
                <a:ea typeface="+mn-lt"/>
                <a:cs typeface="+mn-lt"/>
              </a:rPr>
              <a:t> E at high level (double spacing) and C at low level (uppercase letter) is desired</a:t>
            </a:r>
            <a:r>
              <a:rPr lang="en-US" sz="1400" i="1" dirty="0">
                <a:ea typeface="+mn-lt"/>
                <a:cs typeface="Calibri"/>
              </a:rPr>
              <a:t>.</a:t>
            </a:r>
            <a:endParaRPr lang="en-US" sz="1400" dirty="0">
              <a:ea typeface="+mn-lt"/>
              <a:cs typeface="+mn-lt"/>
            </a:endParaRPr>
          </a:p>
        </p:txBody>
      </p:sp>
      <p:sp>
        <p:nvSpPr>
          <p:cNvPr id="4" name="TextBox 3">
            <a:extLst>
              <a:ext uri="{FF2B5EF4-FFF2-40B4-BE49-F238E27FC236}">
                <a16:creationId xmlns:a16="http://schemas.microsoft.com/office/drawing/2014/main" id="{460E58F4-A0CD-66BA-1922-BFAE79B3FD27}"/>
              </a:ext>
            </a:extLst>
          </p:cNvPr>
          <p:cNvSpPr txBox="1"/>
          <p:nvPr/>
        </p:nvSpPr>
        <p:spPr>
          <a:xfrm>
            <a:off x="4507396" y="5431047"/>
            <a:ext cx="3138004" cy="738664"/>
          </a:xfrm>
          <a:prstGeom prst="rect">
            <a:avLst/>
          </a:prstGeom>
          <a:noFill/>
        </p:spPr>
        <p:txBody>
          <a:bodyPr wrap="square" lIns="91440" tIns="45720" rIns="91440" bIns="45720" rtlCol="0" anchor="t">
            <a:spAutoFit/>
          </a:bodyPr>
          <a:lstStyle/>
          <a:p>
            <a:pPr algn="just"/>
            <a:r>
              <a:rPr lang="en-US" sz="1400" dirty="0">
                <a:cs typeface="Calibri"/>
              </a:rPr>
              <a:t>For minimizing standard deviation, </a:t>
            </a:r>
            <a:r>
              <a:rPr lang="en-US" sz="1400" dirty="0">
                <a:ea typeface="+mn-lt"/>
                <a:cs typeface="+mn-lt"/>
              </a:rPr>
              <a:t>B at high level (white font color) and H at low level (Arial font type) is desired. </a:t>
            </a:r>
            <a:endParaRPr lang="en-US" dirty="0">
              <a:cs typeface="Calibri" panose="020F0502020204030204"/>
            </a:endParaRPr>
          </a:p>
        </p:txBody>
      </p:sp>
      <p:sp>
        <p:nvSpPr>
          <p:cNvPr id="5" name="TextBox 4">
            <a:extLst>
              <a:ext uri="{FF2B5EF4-FFF2-40B4-BE49-F238E27FC236}">
                <a16:creationId xmlns:a16="http://schemas.microsoft.com/office/drawing/2014/main" id="{0702F1CE-F3BC-49FF-2763-59E0767C48A2}"/>
              </a:ext>
            </a:extLst>
          </p:cNvPr>
          <p:cNvSpPr txBox="1"/>
          <p:nvPr/>
        </p:nvSpPr>
        <p:spPr>
          <a:xfrm>
            <a:off x="8227647" y="5431047"/>
            <a:ext cx="3503099" cy="738664"/>
          </a:xfrm>
          <a:prstGeom prst="rect">
            <a:avLst/>
          </a:prstGeom>
          <a:noFill/>
        </p:spPr>
        <p:txBody>
          <a:bodyPr wrap="square" lIns="91440" tIns="45720" rIns="91440" bIns="45720" rtlCol="0" anchor="t">
            <a:spAutoFit/>
          </a:bodyPr>
          <a:lstStyle/>
          <a:p>
            <a:pPr algn="just"/>
            <a:r>
              <a:rPr lang="en-US" sz="1400" dirty="0">
                <a:cs typeface="Calibri"/>
              </a:rPr>
              <a:t>For minimizing standard deviation, </a:t>
            </a:r>
            <a:r>
              <a:rPr lang="en-US" sz="1400" dirty="0">
                <a:ea typeface="+mn-lt"/>
                <a:cs typeface="+mn-lt"/>
              </a:rPr>
              <a:t>E at high level (double spacing) and G at low level (horizontal orientation) is desired. </a:t>
            </a:r>
            <a:endParaRPr lang="en-US"/>
          </a:p>
        </p:txBody>
      </p:sp>
    </p:spTree>
    <p:extLst>
      <p:ext uri="{BB962C8B-B14F-4D97-AF65-F5344CB8AC3E}">
        <p14:creationId xmlns:p14="http://schemas.microsoft.com/office/powerpoint/2010/main" val="3583965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39" name="Rectangle 38">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3" name="Isosceles Triangle 4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itle 1">
            <a:extLst>
              <a:ext uri="{FF2B5EF4-FFF2-40B4-BE49-F238E27FC236}">
                <a16:creationId xmlns:a16="http://schemas.microsoft.com/office/drawing/2014/main" id="{6D462C48-D311-4769-92B4-BB611FD907EE}"/>
              </a:ext>
            </a:extLst>
          </p:cNvPr>
          <p:cNvSpPr>
            <a:spLocks noGrp="1"/>
          </p:cNvSpPr>
          <p:nvPr>
            <p:ph type="title"/>
          </p:nvPr>
        </p:nvSpPr>
        <p:spPr>
          <a:xfrm>
            <a:off x="972708" y="229922"/>
            <a:ext cx="10381091" cy="748581"/>
          </a:xfrm>
        </p:spPr>
        <p:txBody>
          <a:bodyPr>
            <a:normAutofit/>
          </a:bodyPr>
          <a:lstStyle/>
          <a:p>
            <a:r>
              <a:rPr lang="en-US" sz="3600" b="1" dirty="0"/>
              <a:t>ANOVA for Mean Time and Standard Deviation</a:t>
            </a:r>
            <a:endParaRPr lang="bn-BD" sz="3600" b="1" dirty="0"/>
          </a:p>
        </p:txBody>
      </p:sp>
      <p:sp>
        <p:nvSpPr>
          <p:cNvPr id="47" name="TextBox 46">
            <a:extLst>
              <a:ext uri="{FF2B5EF4-FFF2-40B4-BE49-F238E27FC236}">
                <a16:creationId xmlns:a16="http://schemas.microsoft.com/office/drawing/2014/main" id="{986B0289-6680-4F65-9B89-7716A7A7CA5C}"/>
              </a:ext>
            </a:extLst>
          </p:cNvPr>
          <p:cNvSpPr txBox="1"/>
          <p:nvPr/>
        </p:nvSpPr>
        <p:spPr>
          <a:xfrm>
            <a:off x="486711" y="2975237"/>
            <a:ext cx="4839647" cy="307777"/>
          </a:xfrm>
          <a:prstGeom prst="rect">
            <a:avLst/>
          </a:prstGeom>
          <a:noFill/>
        </p:spPr>
        <p:txBody>
          <a:bodyPr wrap="square" lIns="91440" tIns="45720" rIns="91440" bIns="45720" rtlCol="0" anchor="t">
            <a:spAutoFit/>
          </a:bodyPr>
          <a:lstStyle/>
          <a:p>
            <a:r>
              <a:rPr lang="en-US" sz="1400" b="1" i="1" dirty="0"/>
              <a:t>Fig 10:</a:t>
            </a:r>
            <a:r>
              <a:rPr lang="en-US" sz="1400" i="1" dirty="0"/>
              <a:t> ANOVA for significant effects in mean time</a:t>
            </a:r>
            <a:endParaRPr lang="bn-BD" sz="1400" i="1" dirty="0"/>
          </a:p>
        </p:txBody>
      </p:sp>
      <p:sp>
        <p:nvSpPr>
          <p:cNvPr id="19" name="TextBox 18">
            <a:extLst>
              <a:ext uri="{FF2B5EF4-FFF2-40B4-BE49-F238E27FC236}">
                <a16:creationId xmlns:a16="http://schemas.microsoft.com/office/drawing/2014/main" id="{C9203DEB-371E-4846-96A9-509C4C35F120}"/>
              </a:ext>
            </a:extLst>
          </p:cNvPr>
          <p:cNvSpPr txBox="1"/>
          <p:nvPr/>
        </p:nvSpPr>
        <p:spPr>
          <a:xfrm>
            <a:off x="488378" y="5736245"/>
            <a:ext cx="4361463" cy="307777"/>
          </a:xfrm>
          <a:prstGeom prst="rect">
            <a:avLst/>
          </a:prstGeom>
          <a:noFill/>
        </p:spPr>
        <p:txBody>
          <a:bodyPr wrap="square" lIns="91440" tIns="45720" rIns="91440" bIns="45720" rtlCol="0" anchor="t">
            <a:spAutoFit/>
          </a:bodyPr>
          <a:lstStyle/>
          <a:p>
            <a:r>
              <a:rPr lang="en-US" sz="1400" b="1" i="1" dirty="0"/>
              <a:t>Fig 11:</a:t>
            </a:r>
            <a:r>
              <a:rPr lang="en-US" sz="1400" i="1" dirty="0"/>
              <a:t> </a:t>
            </a:r>
            <a:r>
              <a:rPr lang="en-US" sz="1400" i="1" dirty="0">
                <a:ea typeface="+mn-lt"/>
                <a:cs typeface="+mn-lt"/>
              </a:rPr>
              <a:t>ANOVA for significant effects in standard deviation</a:t>
            </a:r>
            <a:endParaRPr lang="en-US" sz="1400" i="1" dirty="0">
              <a:cs typeface="Calibri"/>
            </a:endParaRPr>
          </a:p>
        </p:txBody>
      </p:sp>
      <p:sp>
        <p:nvSpPr>
          <p:cNvPr id="22" name="Content Placeholder 5">
            <a:extLst>
              <a:ext uri="{FF2B5EF4-FFF2-40B4-BE49-F238E27FC236}">
                <a16:creationId xmlns:a16="http://schemas.microsoft.com/office/drawing/2014/main" id="{049E20F6-363A-4FC7-B417-A6E286A3B9BF}"/>
              </a:ext>
            </a:extLst>
          </p:cNvPr>
          <p:cNvSpPr>
            <a:spLocks noGrp="1"/>
          </p:cNvSpPr>
          <p:nvPr>
            <p:ph idx="1"/>
          </p:nvPr>
        </p:nvSpPr>
        <p:spPr>
          <a:xfrm>
            <a:off x="6508720" y="1456827"/>
            <a:ext cx="4669219" cy="1864718"/>
          </a:xfrm>
        </p:spPr>
        <p:txBody>
          <a:bodyPr vert="horz" lIns="91440" tIns="45720" rIns="91440" bIns="45720" rtlCol="0" anchor="t">
            <a:noAutofit/>
          </a:bodyPr>
          <a:lstStyle/>
          <a:p>
            <a:pPr marL="0" indent="0" algn="just">
              <a:buNone/>
            </a:pPr>
            <a:r>
              <a:rPr lang="en-US" sz="1800" dirty="0"/>
              <a:t>From the Normal Probability Plot of effects (mean time), it</a:t>
            </a:r>
            <a:r>
              <a:rPr lang="en-US" sz="1800" dirty="0">
                <a:cs typeface="Calibri"/>
              </a:rPr>
              <a:t> was found that factors A, E, and G are significant. ANOVA is done by pooling all other factors and their interactions as error to confirm the findings. </a:t>
            </a:r>
          </a:p>
          <a:p>
            <a:pPr marL="0" indent="0" algn="just">
              <a:buNone/>
            </a:pPr>
            <a:r>
              <a:rPr lang="en-US" sz="1800" dirty="0">
                <a:cs typeface="Calibri"/>
              </a:rPr>
              <a:t>In the ANOVA,</a:t>
            </a:r>
            <a:r>
              <a:rPr lang="en-US" sz="1800" b="1" dirty="0">
                <a:cs typeface="Calibri"/>
              </a:rPr>
              <a:t> </a:t>
            </a:r>
            <a:r>
              <a:rPr lang="en-US" sz="1800" b="1" dirty="0">
                <a:ea typeface="+mn-lt"/>
                <a:cs typeface="+mn-lt"/>
              </a:rPr>
              <a:t>factors A, E, and G are significant.</a:t>
            </a:r>
            <a:endParaRPr lang="en-US" sz="1800" b="1" kern="1200" dirty="0">
              <a:solidFill>
                <a:srgbClr val="000000"/>
              </a:solidFill>
              <a:effectLst/>
              <a:cs typeface="Calibri" panose="020F0502020204030204"/>
            </a:endParaRPr>
          </a:p>
          <a:p>
            <a:pPr algn="just"/>
            <a:endParaRPr lang="en-US" sz="1800" b="1" kern="1200" dirty="0">
              <a:solidFill>
                <a:srgbClr val="000000"/>
              </a:solidFill>
              <a:effectLst/>
              <a:ea typeface="+mn-ea"/>
              <a:cs typeface="+mn-cs"/>
            </a:endParaRPr>
          </a:p>
          <a:p>
            <a:pPr marL="0" indent="0" algn="just">
              <a:buNone/>
            </a:pPr>
            <a:endParaRPr lang="en-US" sz="1800" dirty="0">
              <a:ea typeface="+mn-lt"/>
              <a:cs typeface="+mn-lt"/>
            </a:endParaRPr>
          </a:p>
          <a:p>
            <a:pPr marL="0" indent="0" algn="just">
              <a:buNone/>
            </a:pPr>
            <a:endParaRPr lang="en-US" sz="1800" dirty="0">
              <a:ea typeface="+mn-lt"/>
              <a:cs typeface="+mn-lt"/>
            </a:endParaRPr>
          </a:p>
          <a:p>
            <a:pPr marL="0" indent="0" algn="just">
              <a:buNone/>
            </a:pPr>
            <a:endParaRPr lang="en-US" sz="1800" b="1" dirty="0">
              <a:solidFill>
                <a:srgbClr val="000000"/>
              </a:solidFill>
              <a:cs typeface="Calibri" panose="020F0502020204030204"/>
            </a:endParaRPr>
          </a:p>
        </p:txBody>
      </p:sp>
      <p:pic>
        <p:nvPicPr>
          <p:cNvPr id="5" name="Picture 5" descr="Text&#10;&#10;Description automatically generated">
            <a:extLst>
              <a:ext uri="{FF2B5EF4-FFF2-40B4-BE49-F238E27FC236}">
                <a16:creationId xmlns:a16="http://schemas.microsoft.com/office/drawing/2014/main" id="{7872E3B4-EDA4-72B9-8956-6F959213063A}"/>
              </a:ext>
            </a:extLst>
          </p:cNvPr>
          <p:cNvPicPr>
            <a:picLocks noChangeAspect="1"/>
          </p:cNvPicPr>
          <p:nvPr/>
        </p:nvPicPr>
        <p:blipFill rotWithShape="1">
          <a:blip r:embed="rId2"/>
          <a:srcRect r="-210" b="2445"/>
          <a:stretch/>
        </p:blipFill>
        <p:spPr>
          <a:xfrm>
            <a:off x="565150" y="4095908"/>
            <a:ext cx="5050371" cy="1638873"/>
          </a:xfrm>
          <a:prstGeom prst="rect">
            <a:avLst/>
          </a:prstGeom>
          <a:ln w="6350">
            <a:solidFill>
              <a:schemeClr val="tx1"/>
            </a:solidFill>
          </a:ln>
        </p:spPr>
      </p:pic>
      <p:pic>
        <p:nvPicPr>
          <p:cNvPr id="6" name="Picture 6">
            <a:extLst>
              <a:ext uri="{FF2B5EF4-FFF2-40B4-BE49-F238E27FC236}">
                <a16:creationId xmlns:a16="http://schemas.microsoft.com/office/drawing/2014/main" id="{3D8676BD-27C1-4880-1BCC-ED2E68812F85}"/>
              </a:ext>
            </a:extLst>
          </p:cNvPr>
          <p:cNvPicPr>
            <a:picLocks noChangeAspect="1"/>
          </p:cNvPicPr>
          <p:nvPr/>
        </p:nvPicPr>
        <p:blipFill rotWithShape="1">
          <a:blip r:embed="rId3"/>
          <a:srcRect t="-2201" b="1"/>
          <a:stretch/>
        </p:blipFill>
        <p:spPr>
          <a:xfrm>
            <a:off x="565150" y="1721446"/>
            <a:ext cx="5060949" cy="1239993"/>
          </a:xfrm>
          <a:prstGeom prst="rect">
            <a:avLst/>
          </a:prstGeom>
          <a:ln>
            <a:solidFill>
              <a:schemeClr val="tx1"/>
            </a:solidFill>
          </a:ln>
        </p:spPr>
      </p:pic>
      <p:sp>
        <p:nvSpPr>
          <p:cNvPr id="7" name="Slide Number Placeholder 6">
            <a:extLst>
              <a:ext uri="{FF2B5EF4-FFF2-40B4-BE49-F238E27FC236}">
                <a16:creationId xmlns:a16="http://schemas.microsoft.com/office/drawing/2014/main" id="{C319BC6B-4872-A01C-2B72-3859955A9703}"/>
              </a:ext>
            </a:extLst>
          </p:cNvPr>
          <p:cNvSpPr>
            <a:spLocks noGrp="1"/>
          </p:cNvSpPr>
          <p:nvPr>
            <p:ph type="sldNum" sz="quarter" idx="12"/>
          </p:nvPr>
        </p:nvSpPr>
        <p:spPr/>
        <p:txBody>
          <a:bodyPr/>
          <a:lstStyle/>
          <a:p>
            <a:fld id="{399003F6-1962-4C57-BCBA-8B61979D0865}" type="slidenum">
              <a:rPr lang="bn-BD" dirty="0" smtClean="0"/>
              <a:t>9</a:t>
            </a:fld>
            <a:endParaRPr lang="en-US">
              <a:cs typeface="Calibri"/>
            </a:endParaRPr>
          </a:p>
        </p:txBody>
      </p:sp>
      <p:sp>
        <p:nvSpPr>
          <p:cNvPr id="3" name="Content Placeholder 5">
            <a:extLst>
              <a:ext uri="{FF2B5EF4-FFF2-40B4-BE49-F238E27FC236}">
                <a16:creationId xmlns:a16="http://schemas.microsoft.com/office/drawing/2014/main" id="{E47D36CB-248B-4150-D49B-85720847C2D5}"/>
              </a:ext>
            </a:extLst>
          </p:cNvPr>
          <p:cNvSpPr txBox="1">
            <a:spLocks/>
          </p:cNvSpPr>
          <p:nvPr/>
        </p:nvSpPr>
        <p:spPr>
          <a:xfrm>
            <a:off x="6519298" y="3839646"/>
            <a:ext cx="4669218" cy="215139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800" dirty="0">
                <a:cs typeface="Calibri"/>
              </a:rPr>
              <a:t>From the Normal Probability Plot of the effects (standard deviation), it was found that A, E, G, EG, CE, and BH are significant. ANOVA is done by pooling all other factors and their interactions as error to confirm the findings. </a:t>
            </a:r>
          </a:p>
          <a:p>
            <a:pPr marL="0" indent="0" algn="just">
              <a:buNone/>
            </a:pPr>
            <a:r>
              <a:rPr lang="en-US" sz="1800" dirty="0">
                <a:cs typeface="Calibri"/>
              </a:rPr>
              <a:t>In the ANOVA, </a:t>
            </a:r>
            <a:r>
              <a:rPr lang="en-US" sz="1800" b="1" dirty="0">
                <a:ea typeface="+mn-lt"/>
                <a:cs typeface="+mn-lt"/>
              </a:rPr>
              <a:t>factors A, E, and G are the most significant </a:t>
            </a:r>
            <a:r>
              <a:rPr lang="en-US" sz="1800" dirty="0">
                <a:ea typeface="+mn-lt"/>
                <a:cs typeface="+mn-lt"/>
              </a:rPr>
              <a:t>and </a:t>
            </a:r>
            <a:r>
              <a:rPr lang="en-US" sz="1800" b="1" dirty="0">
                <a:ea typeface="+mn-lt"/>
                <a:cs typeface="+mn-lt"/>
              </a:rPr>
              <a:t>interactions EG, CE, and BH are also significant. </a:t>
            </a:r>
            <a:endParaRPr lang="en-US" sz="1800" dirty="0">
              <a:solidFill>
                <a:srgbClr val="000000"/>
              </a:solidFill>
              <a:cs typeface="Calibri" panose="020F0502020204030204"/>
            </a:endParaRPr>
          </a:p>
          <a:p>
            <a:pPr algn="just"/>
            <a:endParaRPr lang="en-US" sz="1800" b="1" dirty="0">
              <a:solidFill>
                <a:srgbClr val="000000"/>
              </a:solidFill>
              <a:cs typeface="Calibri" panose="020F0502020204030204"/>
            </a:endParaRPr>
          </a:p>
          <a:p>
            <a:pPr algn="just"/>
            <a:endParaRPr lang="en-US" sz="1800" b="1" dirty="0">
              <a:solidFill>
                <a:srgbClr val="000000"/>
              </a:solidFill>
              <a:cs typeface="Calibri" panose="020F0502020204030204"/>
            </a:endParaRPr>
          </a:p>
        </p:txBody>
      </p:sp>
      <p:sp>
        <p:nvSpPr>
          <p:cNvPr id="4" name="Arrow: Right 3">
            <a:extLst>
              <a:ext uri="{FF2B5EF4-FFF2-40B4-BE49-F238E27FC236}">
                <a16:creationId xmlns:a16="http://schemas.microsoft.com/office/drawing/2014/main" id="{A6B6E349-D7DF-1424-005C-E2E802168B04}"/>
              </a:ext>
            </a:extLst>
          </p:cNvPr>
          <p:cNvSpPr/>
          <p:nvPr/>
        </p:nvSpPr>
        <p:spPr>
          <a:xfrm>
            <a:off x="5721046" y="2277472"/>
            <a:ext cx="692727" cy="223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5EBB8159-7290-F945-311F-F9D307AD34C9}"/>
              </a:ext>
            </a:extLst>
          </p:cNvPr>
          <p:cNvSpPr/>
          <p:nvPr/>
        </p:nvSpPr>
        <p:spPr>
          <a:xfrm>
            <a:off x="5721046" y="4813786"/>
            <a:ext cx="692727" cy="2031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4752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39" name="Rectangle 38">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Isosceles Triangle 39">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43" name="Isosceles Triangle 42">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itle 1">
            <a:extLst>
              <a:ext uri="{FF2B5EF4-FFF2-40B4-BE49-F238E27FC236}">
                <a16:creationId xmlns:a16="http://schemas.microsoft.com/office/drawing/2014/main" id="{F25FC7D6-FFCB-42EF-9F3B-040D30AFE8BF}"/>
              </a:ext>
            </a:extLst>
          </p:cNvPr>
          <p:cNvSpPr>
            <a:spLocks noGrp="1"/>
          </p:cNvSpPr>
          <p:nvPr>
            <p:ph type="title"/>
          </p:nvPr>
        </p:nvSpPr>
        <p:spPr>
          <a:xfrm>
            <a:off x="992896" y="169334"/>
            <a:ext cx="10359422" cy="807719"/>
          </a:xfrm>
        </p:spPr>
        <p:txBody>
          <a:bodyPr>
            <a:normAutofit/>
          </a:bodyPr>
          <a:lstStyle/>
          <a:p>
            <a:r>
              <a:rPr lang="en-US" sz="3600" b="1"/>
              <a:t>Conclusions</a:t>
            </a:r>
            <a:endParaRPr lang="bn-BD" sz="3600" b="1"/>
          </a:p>
        </p:txBody>
      </p:sp>
      <p:sp>
        <p:nvSpPr>
          <p:cNvPr id="9" name="Content Placeholder 2">
            <a:extLst>
              <a:ext uri="{FF2B5EF4-FFF2-40B4-BE49-F238E27FC236}">
                <a16:creationId xmlns:a16="http://schemas.microsoft.com/office/drawing/2014/main" id="{4DAB21EE-AA5F-4B2D-A22F-CC144758112D}"/>
              </a:ext>
            </a:extLst>
          </p:cNvPr>
          <p:cNvSpPr>
            <a:spLocks noGrp="1"/>
          </p:cNvSpPr>
          <p:nvPr>
            <p:ph idx="1"/>
          </p:nvPr>
        </p:nvSpPr>
        <p:spPr>
          <a:xfrm>
            <a:off x="926131" y="1133204"/>
            <a:ext cx="10339738" cy="5181649"/>
          </a:xfrm>
        </p:spPr>
        <p:txBody>
          <a:bodyPr vert="horz" lIns="91440" tIns="45720" rIns="91440" bIns="45720" rtlCol="0" anchor="t">
            <a:normAutofit/>
          </a:bodyPr>
          <a:lstStyle/>
          <a:p>
            <a:pPr marL="0" indent="0" algn="just">
              <a:buNone/>
            </a:pPr>
            <a:r>
              <a:rPr lang="en-US" sz="1800" b="1" dirty="0"/>
              <a:t>FOR THE READING TIME MEAN </a:t>
            </a:r>
            <a:r>
              <a:rPr lang="en-US" sz="1800" b="1" dirty="0">
                <a:sym typeface="Wingdings" pitchFamily="2" charset="2"/>
              </a:rPr>
              <a:t> goal is faster reading, so min. mean </a:t>
            </a:r>
            <a:endParaRPr lang="en-US" sz="1800" b="1" dirty="0"/>
          </a:p>
          <a:p>
            <a:pPr algn="just"/>
            <a:r>
              <a:rPr lang="en-US" sz="1800" b="1" dirty="0"/>
              <a:t>Main effect A (Font size): </a:t>
            </a:r>
            <a:r>
              <a:rPr lang="en-US" sz="1800" dirty="0"/>
              <a:t>For reading posters, font size has a significant impact. Higher font size resulted in faster reading.</a:t>
            </a:r>
            <a:endParaRPr lang="en-US" sz="1800" dirty="0">
              <a:cs typeface="Calibri"/>
            </a:endParaRPr>
          </a:p>
          <a:p>
            <a:pPr algn="just"/>
            <a:r>
              <a:rPr lang="en-US" sz="1800" b="1" dirty="0"/>
              <a:t>Main effect E (Spacing): </a:t>
            </a:r>
            <a:r>
              <a:rPr lang="en-US" sz="1800" dirty="0"/>
              <a:t>Double spacing resulted in shorter reading time so double spacing is recommended for poster printing.</a:t>
            </a:r>
            <a:endParaRPr lang="en-US" sz="1800" dirty="0">
              <a:cs typeface="Calibri"/>
            </a:endParaRPr>
          </a:p>
          <a:p>
            <a:pPr algn="just"/>
            <a:r>
              <a:rPr lang="en-US" sz="1800" b="1" dirty="0"/>
              <a:t>Main effect G (Orientation):</a:t>
            </a:r>
            <a:r>
              <a:rPr lang="en-US" sz="1800" dirty="0"/>
              <a:t> Horizontal orientation of text direction reduces reading time.</a:t>
            </a:r>
          </a:p>
          <a:p>
            <a:pPr algn="just"/>
            <a:endParaRPr lang="en-US" sz="1800" dirty="0">
              <a:cs typeface="Calibri"/>
            </a:endParaRPr>
          </a:p>
          <a:p>
            <a:pPr algn="just"/>
            <a:endParaRPr lang="en-US" sz="1800" dirty="0">
              <a:cs typeface="Calibri"/>
            </a:endParaRPr>
          </a:p>
          <a:p>
            <a:pPr marL="0" indent="0" algn="just">
              <a:buNone/>
            </a:pPr>
            <a:r>
              <a:rPr lang="en-US" sz="1800" b="1" dirty="0">
                <a:cs typeface="Calibri"/>
              </a:rPr>
              <a:t>FOR THE READING TIME STANDARD DEVIATION </a:t>
            </a:r>
            <a:r>
              <a:rPr lang="en-US" sz="1800" b="1" dirty="0">
                <a:cs typeface="Calibri"/>
                <a:sym typeface="Wingdings" pitchFamily="2" charset="2"/>
              </a:rPr>
              <a:t> goal is to reduce variability, so min. standard deviation</a:t>
            </a:r>
            <a:endParaRPr lang="en-US" sz="1800" b="1" dirty="0">
              <a:cs typeface="Calibri"/>
            </a:endParaRPr>
          </a:p>
          <a:p>
            <a:pPr algn="just"/>
            <a:r>
              <a:rPr lang="en-US" sz="1800" b="1" dirty="0"/>
              <a:t>Interaction effect E*G (Spacing*Text Orientation):</a:t>
            </a:r>
            <a:r>
              <a:rPr lang="en-US" sz="1800" dirty="0"/>
              <a:t> Higher level for factor E (double spacing) and lower level for G (horizontal orientation) is desired to reduce variability among readers. </a:t>
            </a:r>
            <a:endParaRPr lang="en-US" sz="1800" dirty="0">
              <a:cs typeface="Calibri"/>
            </a:endParaRPr>
          </a:p>
          <a:p>
            <a:pPr algn="just"/>
            <a:r>
              <a:rPr lang="en-US" sz="1800" b="1" dirty="0"/>
              <a:t>Interaction effect B*H (Font color*Font type): </a:t>
            </a:r>
            <a:r>
              <a:rPr lang="en-US" sz="1800" dirty="0"/>
              <a:t>It was significant for standard deviation. B at high level (white font color) and H at low level (Arial font type) is desired to minimize variability among readers.</a:t>
            </a:r>
            <a:endParaRPr lang="en-US" sz="1800" dirty="0">
              <a:cs typeface="Calibri"/>
            </a:endParaRPr>
          </a:p>
          <a:p>
            <a:pPr algn="just"/>
            <a:r>
              <a:rPr lang="en-US" sz="1800" b="1" dirty="0"/>
              <a:t>Interaction effect C*E (Letter case*Spacing):</a:t>
            </a:r>
            <a:r>
              <a:rPr lang="en-US" sz="1800" dirty="0"/>
              <a:t> E at high level(double spacing) and C at low level (uppercase letter) is desired to minimize standard deviation</a:t>
            </a:r>
            <a:r>
              <a:rPr lang="en-US" sz="1800" dirty="0">
                <a:cs typeface="Calibri"/>
              </a:rPr>
              <a:t>.</a:t>
            </a:r>
            <a:endParaRPr lang="en-US" sz="1800" dirty="0"/>
          </a:p>
        </p:txBody>
      </p:sp>
      <p:sp>
        <p:nvSpPr>
          <p:cNvPr id="2" name="Slide Number Placeholder 1">
            <a:extLst>
              <a:ext uri="{FF2B5EF4-FFF2-40B4-BE49-F238E27FC236}">
                <a16:creationId xmlns:a16="http://schemas.microsoft.com/office/drawing/2014/main" id="{C7A605EF-2158-BC5A-2163-5F69AAA1B766}"/>
              </a:ext>
            </a:extLst>
          </p:cNvPr>
          <p:cNvSpPr>
            <a:spLocks noGrp="1"/>
          </p:cNvSpPr>
          <p:nvPr>
            <p:ph type="sldNum" sz="quarter" idx="12"/>
          </p:nvPr>
        </p:nvSpPr>
        <p:spPr/>
        <p:txBody>
          <a:bodyPr/>
          <a:lstStyle/>
          <a:p>
            <a:fld id="{399003F6-1962-4C57-BCBA-8B61979D0865}" type="slidenum">
              <a:rPr lang="bn-BD" smtClean="0"/>
              <a:t>10</a:t>
            </a:fld>
            <a:endParaRPr lang="en-US" dirty="0"/>
          </a:p>
        </p:txBody>
      </p:sp>
    </p:spTree>
    <p:extLst>
      <p:ext uri="{BB962C8B-B14F-4D97-AF65-F5344CB8AC3E}">
        <p14:creationId xmlns:p14="http://schemas.microsoft.com/office/powerpoint/2010/main" val="2471282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61">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25FC7D6-FFCB-42EF-9F3B-040D30AFE8BF}"/>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dirty="0"/>
              <a:t>Photos of the Experiment (1/2)</a:t>
            </a:r>
          </a:p>
        </p:txBody>
      </p:sp>
      <p:sp>
        <p:nvSpPr>
          <p:cNvPr id="61" name="Rectangle 6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75CAD5-AF29-4E91-B48D-A03BFA8CA83E}"/>
              </a:ext>
            </a:extLst>
          </p:cNvPr>
          <p:cNvSpPr txBox="1"/>
          <p:nvPr/>
        </p:nvSpPr>
        <p:spPr>
          <a:xfrm>
            <a:off x="344855" y="2427488"/>
            <a:ext cx="2287824" cy="2592601"/>
          </a:xfrm>
          <a:prstGeom prst="rect">
            <a:avLst/>
          </a:prstGeom>
        </p:spPr>
        <p:txBody>
          <a:bodyPr vert="horz" lIns="91440" tIns="45720" rIns="91440" bIns="45720" rtlCol="0" anchor="ctr">
            <a:normAutofit/>
          </a:bodyPr>
          <a:lstStyle/>
          <a:p>
            <a:pPr>
              <a:lnSpc>
                <a:spcPct val="90000"/>
              </a:lnSpc>
              <a:spcAft>
                <a:spcPts val="600"/>
              </a:spcAft>
            </a:pPr>
            <a:r>
              <a:rPr lang="en-US" sz="1600" b="1" i="1" dirty="0"/>
              <a:t>Experimental equipment</a:t>
            </a:r>
            <a:endParaRPr lang="en-US" sz="1600" b="1" dirty="0"/>
          </a:p>
          <a:p>
            <a:pPr indent="-228600">
              <a:lnSpc>
                <a:spcPct val="90000"/>
              </a:lnSpc>
              <a:spcAft>
                <a:spcPts val="600"/>
              </a:spcAft>
              <a:buFont typeface="Arial" panose="020B0604020202020204" pitchFamily="34" charset="0"/>
              <a:buChar char="•"/>
            </a:pPr>
            <a:r>
              <a:rPr lang="en-US" sz="1600" i="1" dirty="0"/>
              <a:t>Posters (2</a:t>
            </a:r>
            <a:r>
              <a:rPr lang="en-US" sz="1600" i="1" baseline="30000" dirty="0"/>
              <a:t>nd</a:t>
            </a:r>
            <a:r>
              <a:rPr lang="en-US" sz="1600" i="1" dirty="0"/>
              <a:t> picture shows sample posters for each block)</a:t>
            </a:r>
            <a:endParaRPr lang="en-US" sz="1600" i="1" dirty="0">
              <a:cs typeface="Calibri"/>
            </a:endParaRPr>
          </a:p>
          <a:p>
            <a:pPr indent="-228600">
              <a:lnSpc>
                <a:spcPct val="90000"/>
              </a:lnSpc>
              <a:spcAft>
                <a:spcPts val="600"/>
              </a:spcAft>
              <a:buFont typeface="Arial" panose="020B0604020202020204" pitchFamily="34" charset="0"/>
              <a:buChar char="•"/>
            </a:pPr>
            <a:r>
              <a:rPr lang="en-US" sz="1600" i="1" dirty="0"/>
              <a:t>Mobile Stopwatch</a:t>
            </a:r>
            <a:endParaRPr lang="en-US" sz="1600" i="1" dirty="0">
              <a:cs typeface="Calibri"/>
            </a:endParaRPr>
          </a:p>
          <a:p>
            <a:pPr indent="-228600">
              <a:lnSpc>
                <a:spcPct val="90000"/>
              </a:lnSpc>
              <a:spcAft>
                <a:spcPts val="600"/>
              </a:spcAft>
              <a:buFont typeface="Arial" panose="020B0604020202020204" pitchFamily="34" charset="0"/>
              <a:buChar char="•"/>
            </a:pPr>
            <a:r>
              <a:rPr lang="en-US" sz="1600" i="1" dirty="0"/>
              <a:t>Measure tape (to measure the 5ft distance and reader's eyes level height).</a:t>
            </a:r>
          </a:p>
        </p:txBody>
      </p:sp>
      <p:pic>
        <p:nvPicPr>
          <p:cNvPr id="4" name="Picture 4" descr="A picture containing text, indoor&#10;&#10;Description automatically generated">
            <a:extLst>
              <a:ext uri="{FF2B5EF4-FFF2-40B4-BE49-F238E27FC236}">
                <a16:creationId xmlns:a16="http://schemas.microsoft.com/office/drawing/2014/main" id="{5D67B757-9530-CE7B-5DD2-DB31610FE78A}"/>
              </a:ext>
            </a:extLst>
          </p:cNvPr>
          <p:cNvPicPr>
            <a:picLocks noChangeAspect="1"/>
          </p:cNvPicPr>
          <p:nvPr/>
        </p:nvPicPr>
        <p:blipFill rotWithShape="1">
          <a:blip r:embed="rId2"/>
          <a:srcRect t="3843" r="2" b="2"/>
          <a:stretch/>
        </p:blipFill>
        <p:spPr>
          <a:xfrm>
            <a:off x="2977533" y="2648781"/>
            <a:ext cx="4682070" cy="3376585"/>
          </a:xfrm>
          <a:prstGeom prst="rect">
            <a:avLst/>
          </a:prstGeom>
        </p:spPr>
      </p:pic>
      <p:sp>
        <p:nvSpPr>
          <p:cNvPr id="68" name="Rectangle 6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F421AD6-F9B7-B1E3-36A5-2B9483A77DFF}"/>
              </a:ext>
            </a:extLst>
          </p:cNvPr>
          <p:cNvSpPr>
            <a:spLocks noGrp="1"/>
          </p:cNvSpPr>
          <p:nvPr>
            <p:ph type="sldNum" sz="quarter" idx="12"/>
          </p:nvPr>
        </p:nvSpPr>
        <p:spPr>
          <a:xfrm>
            <a:off x="8951881" y="6492741"/>
            <a:ext cx="2743200" cy="365125"/>
          </a:xfrm>
        </p:spPr>
        <p:txBody>
          <a:bodyPr vert="horz" lIns="91440" tIns="45720" rIns="91440" bIns="45720" rtlCol="0" anchor="ctr">
            <a:normAutofit/>
          </a:bodyPr>
          <a:lstStyle/>
          <a:p>
            <a:pPr>
              <a:spcAft>
                <a:spcPts val="600"/>
              </a:spcAft>
              <a:defRPr/>
            </a:pPr>
            <a:fld id="{399003F6-1962-4C57-BCBA-8B61979D0865}" type="slidenum">
              <a:rPr lang="en-US" dirty="0" smtClean="0">
                <a:solidFill>
                  <a:prstClr val="black">
                    <a:tint val="75000"/>
                  </a:prstClr>
                </a:solidFill>
                <a:latin typeface="Calibri" panose="020F0502020204030204"/>
              </a:rPr>
              <a:pPr>
                <a:spcAft>
                  <a:spcPts val="600"/>
                </a:spcAft>
                <a:defRPr/>
              </a:pPr>
              <a:t>11</a:t>
            </a:fld>
            <a:endParaRPr lang="en-US" dirty="0">
              <a:solidFill>
                <a:prstClr val="black">
                  <a:tint val="75000"/>
                </a:prstClr>
              </a:solidFill>
              <a:latin typeface="Calibri" panose="020F0502020204030204"/>
            </a:endParaRPr>
          </a:p>
        </p:txBody>
      </p:sp>
      <p:pic>
        <p:nvPicPr>
          <p:cNvPr id="7" name="Picture 6" descr="Shape&#10;&#10;Description automatically generated with medium confidence">
            <a:extLst>
              <a:ext uri="{FF2B5EF4-FFF2-40B4-BE49-F238E27FC236}">
                <a16:creationId xmlns:a16="http://schemas.microsoft.com/office/drawing/2014/main" id="{FC603D02-E744-5EA7-6997-91086162B7D4}"/>
              </a:ext>
            </a:extLst>
          </p:cNvPr>
          <p:cNvPicPr>
            <a:picLocks noChangeAspect="1"/>
          </p:cNvPicPr>
          <p:nvPr/>
        </p:nvPicPr>
        <p:blipFill rotWithShape="1">
          <a:blip r:embed="rId3">
            <a:extLst>
              <a:ext uri="{28A0092B-C50C-407E-A947-70E740481C1C}">
                <a14:useLocalDpi xmlns:a14="http://schemas.microsoft.com/office/drawing/2010/main" val="0"/>
              </a:ext>
            </a:extLst>
          </a:blip>
          <a:srcRect l="8252" t="4099" r="9145" b="6260"/>
          <a:stretch/>
        </p:blipFill>
        <p:spPr>
          <a:xfrm>
            <a:off x="8133215" y="2427488"/>
            <a:ext cx="2776535" cy="3817195"/>
          </a:xfrm>
          <a:prstGeom prst="rect">
            <a:avLst/>
          </a:prstGeom>
        </p:spPr>
      </p:pic>
    </p:spTree>
    <p:extLst>
      <p:ext uri="{BB962C8B-B14F-4D97-AF65-F5344CB8AC3E}">
        <p14:creationId xmlns:p14="http://schemas.microsoft.com/office/powerpoint/2010/main" val="2625837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61">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F25FC7D6-FFCB-42EF-9F3B-040D30AFE8BF}"/>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b="1" dirty="0"/>
              <a:t>Photos of the Experiment (2/2)</a:t>
            </a:r>
          </a:p>
        </p:txBody>
      </p:sp>
      <p:sp>
        <p:nvSpPr>
          <p:cNvPr id="61" name="Rectangle 6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175CAD5-AF29-4E91-B48D-A03BFA8CA83E}"/>
              </a:ext>
            </a:extLst>
          </p:cNvPr>
          <p:cNvSpPr txBox="1"/>
          <p:nvPr/>
        </p:nvSpPr>
        <p:spPr>
          <a:xfrm>
            <a:off x="818470" y="1384373"/>
            <a:ext cx="3968150" cy="856486"/>
          </a:xfrm>
          <a:prstGeom prst="rect">
            <a:avLst/>
          </a:prstGeom>
        </p:spPr>
        <p:txBody>
          <a:bodyPr vert="horz" lIns="91440" tIns="45720" rIns="91440" bIns="45720" rtlCol="0" anchor="ctr">
            <a:normAutofit/>
          </a:bodyPr>
          <a:lstStyle/>
          <a:p>
            <a:pPr algn="just">
              <a:lnSpc>
                <a:spcPct val="90000"/>
              </a:lnSpc>
              <a:spcAft>
                <a:spcPts val="600"/>
              </a:spcAft>
            </a:pPr>
            <a:r>
              <a:rPr lang="en-US" sz="1600" b="1" i="1" dirty="0"/>
              <a:t>Team members conducting the experiment</a:t>
            </a:r>
            <a:endParaRPr lang="en-US" sz="1600" i="1" dirty="0"/>
          </a:p>
        </p:txBody>
      </p:sp>
      <p:sp>
        <p:nvSpPr>
          <p:cNvPr id="68" name="Rectangle 6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F421AD6-F9B7-B1E3-36A5-2B9483A77DFF}"/>
              </a:ext>
            </a:extLst>
          </p:cNvPr>
          <p:cNvSpPr>
            <a:spLocks noGrp="1"/>
          </p:cNvSpPr>
          <p:nvPr>
            <p:ph type="sldNum" sz="quarter" idx="12"/>
          </p:nvPr>
        </p:nvSpPr>
        <p:spPr>
          <a:xfrm>
            <a:off x="8951881" y="6492741"/>
            <a:ext cx="2743200" cy="365125"/>
          </a:xfrm>
        </p:spPr>
        <p:txBody>
          <a:bodyPr vert="horz" lIns="91440" tIns="45720" rIns="91440" bIns="45720" rtlCol="0" anchor="ctr">
            <a:normAutofit/>
          </a:bodyPr>
          <a:lstStyle/>
          <a:p>
            <a:pPr>
              <a:spcAft>
                <a:spcPts val="600"/>
              </a:spcAft>
              <a:defRPr/>
            </a:pPr>
            <a:fld id="{399003F6-1962-4C57-BCBA-8B61979D0865}" type="slidenum">
              <a:rPr lang="en-US" dirty="0" smtClean="0">
                <a:solidFill>
                  <a:prstClr val="black">
                    <a:tint val="75000"/>
                  </a:prstClr>
                </a:solidFill>
                <a:latin typeface="Calibri" panose="020F0502020204030204"/>
              </a:rPr>
              <a:pPr>
                <a:spcAft>
                  <a:spcPts val="600"/>
                </a:spcAft>
                <a:defRPr/>
              </a:pPr>
              <a:t>12</a:t>
            </a:fld>
            <a:endParaRPr lang="en-US" dirty="0">
              <a:solidFill>
                <a:prstClr val="black">
                  <a:tint val="75000"/>
                </a:prstClr>
              </a:solidFill>
              <a:latin typeface="Calibri" panose="020F0502020204030204"/>
            </a:endParaRPr>
          </a:p>
        </p:txBody>
      </p:sp>
      <p:pic>
        <p:nvPicPr>
          <p:cNvPr id="3" name="Picture 2" descr="A person and person looking at a phone">
            <a:extLst>
              <a:ext uri="{FF2B5EF4-FFF2-40B4-BE49-F238E27FC236}">
                <a16:creationId xmlns:a16="http://schemas.microsoft.com/office/drawing/2014/main" id="{B8D86C6B-9466-E5BD-BB5E-74D2FBBF4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919" y="2389218"/>
            <a:ext cx="3359005" cy="2519254"/>
          </a:xfrm>
          <a:prstGeom prst="rect">
            <a:avLst/>
          </a:prstGeom>
        </p:spPr>
      </p:pic>
      <p:pic>
        <p:nvPicPr>
          <p:cNvPr id="5" name="Picture 4" descr="Two people looking at a phone&#10;&#10;Description automatically generated with medium confidence">
            <a:extLst>
              <a:ext uri="{FF2B5EF4-FFF2-40B4-BE49-F238E27FC236}">
                <a16:creationId xmlns:a16="http://schemas.microsoft.com/office/drawing/2014/main" id="{803197F3-A399-4D44-00FD-234BCB6BF4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97521" y="2389218"/>
            <a:ext cx="3359006" cy="2519254"/>
          </a:xfrm>
          <a:prstGeom prst="rect">
            <a:avLst/>
          </a:prstGeom>
        </p:spPr>
      </p:pic>
      <p:pic>
        <p:nvPicPr>
          <p:cNvPr id="9" name="Picture 8" descr="A person looking at a cell phone&#10;&#10;Description automatically generated with low confidence">
            <a:extLst>
              <a:ext uri="{FF2B5EF4-FFF2-40B4-BE49-F238E27FC236}">
                <a16:creationId xmlns:a16="http://schemas.microsoft.com/office/drawing/2014/main" id="{3D3D105A-FD82-609F-3E1F-50BB114F20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3714" y="3684223"/>
            <a:ext cx="3366017" cy="2519254"/>
          </a:xfrm>
          <a:prstGeom prst="rect">
            <a:avLst/>
          </a:prstGeom>
        </p:spPr>
      </p:pic>
    </p:spTree>
    <p:extLst>
      <p:ext uri="{BB962C8B-B14F-4D97-AF65-F5344CB8AC3E}">
        <p14:creationId xmlns:p14="http://schemas.microsoft.com/office/powerpoint/2010/main" val="32372196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
  <TotalTime>26</TotalTime>
  <Words>1744</Words>
  <Application>Microsoft Office PowerPoint</Application>
  <PresentationFormat>Widescreen</PresentationFormat>
  <Paragraphs>163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Cambria Math</vt:lpstr>
      <vt:lpstr>Office Theme</vt:lpstr>
      <vt:lpstr>IE 511 – DOE Final Project Analysis of effects of changes in a poster layout on the reading time of graduate students</vt:lpstr>
      <vt:lpstr>Introduction</vt:lpstr>
      <vt:lpstr>Experimental units and Response variables</vt:lpstr>
      <vt:lpstr>Main Factors and other variables</vt:lpstr>
      <vt:lpstr>Design and Experimental Procedure </vt:lpstr>
      <vt:lpstr>Analysis of Results : Mean time</vt:lpstr>
      <vt:lpstr>Analysis of Results : Standard Deviation</vt:lpstr>
      <vt:lpstr>Interaction Plots for Standard Deviation</vt:lpstr>
      <vt:lpstr>ANOVA for Mean Time and Standard Deviation</vt:lpstr>
      <vt:lpstr>Conclusions</vt:lpstr>
      <vt:lpstr>Photos of the Experiment (1/2)</vt:lpstr>
      <vt:lpstr>Photos of the Experiment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 for Stain Removal and shrinkage</dc:title>
  <dc:creator>Shahed, Kazi Safowan</dc:creator>
  <cp:lastModifiedBy>Camargo Sandoval, Ana</cp:lastModifiedBy>
  <cp:revision>8</cp:revision>
  <dcterms:created xsi:type="dcterms:W3CDTF">2021-11-22T09:16:58Z</dcterms:created>
  <dcterms:modified xsi:type="dcterms:W3CDTF">2022-12-09T03:53:57Z</dcterms:modified>
</cp:coreProperties>
</file>